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81" d="100"/>
          <a:sy n="81" d="100"/>
        </p:scale>
        <p:origin x="73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B5DD-D31A-4C08-A062-06D5744012A1}" type="datetimeFigureOut">
              <a:rPr lang="es-SV" smtClean="0"/>
              <a:t>9/2/2026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EEC7-19C7-4B30-8DD9-5C9CD6DE8362}" type="slidenum">
              <a:rPr lang="es-SV" smtClean="0"/>
              <a:t>‹Nº›</a:t>
            </a:fld>
            <a:endParaRPr lang="es-SV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286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B5DD-D31A-4C08-A062-06D5744012A1}" type="datetimeFigureOut">
              <a:rPr lang="es-SV" smtClean="0"/>
              <a:t>9/2/2026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EEC7-19C7-4B30-8DD9-5C9CD6DE836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025712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B5DD-D31A-4C08-A062-06D5744012A1}" type="datetimeFigureOut">
              <a:rPr lang="es-SV" smtClean="0"/>
              <a:t>9/2/2026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EEC7-19C7-4B30-8DD9-5C9CD6DE8362}" type="slidenum">
              <a:rPr lang="es-SV" smtClean="0"/>
              <a:t>‹Nº›</a:t>
            </a:fld>
            <a:endParaRPr lang="es-SV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222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B5DD-D31A-4C08-A062-06D5744012A1}" type="datetimeFigureOut">
              <a:rPr lang="es-SV" smtClean="0"/>
              <a:t>9/2/2026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EEC7-19C7-4B30-8DD9-5C9CD6DE836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782066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B5DD-D31A-4C08-A062-06D5744012A1}" type="datetimeFigureOut">
              <a:rPr lang="es-SV" smtClean="0"/>
              <a:t>9/2/2026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EEC7-19C7-4B30-8DD9-5C9CD6DE836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82163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B5DD-D31A-4C08-A062-06D5744012A1}" type="datetimeFigureOut">
              <a:rPr lang="es-SV" smtClean="0"/>
              <a:t>9/2/2026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EEC7-19C7-4B30-8DD9-5C9CD6DE836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00873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B5DD-D31A-4C08-A062-06D5744012A1}" type="datetimeFigureOut">
              <a:rPr lang="es-SV" smtClean="0"/>
              <a:t>9/2/2026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EEC7-19C7-4B30-8DD9-5C9CD6DE836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170257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F47B5DD-D31A-4C08-A062-06D5744012A1}" type="datetimeFigureOut">
              <a:rPr lang="es-SV" smtClean="0"/>
              <a:t>9/2/2026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65EEC7-19C7-4B30-8DD9-5C9CD6DE836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40298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B5DD-D31A-4C08-A062-06D5744012A1}" type="datetimeFigureOut">
              <a:rPr lang="es-SV" smtClean="0"/>
              <a:t>9/2/2026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EEC7-19C7-4B30-8DD9-5C9CD6DE836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246458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B5DD-D31A-4C08-A062-06D5744012A1}" type="datetimeFigureOut">
              <a:rPr lang="es-SV" smtClean="0"/>
              <a:t>9/2/2026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EEC7-19C7-4B30-8DD9-5C9CD6DE836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1039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B5DD-D31A-4C08-A062-06D5744012A1}" type="datetimeFigureOut">
              <a:rPr lang="es-SV" smtClean="0"/>
              <a:t>9/2/2026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5EEC7-19C7-4B30-8DD9-5C9CD6DE836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86416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F47B5DD-D31A-4C08-A062-06D5744012A1}" type="datetimeFigureOut">
              <a:rPr lang="es-SV" smtClean="0"/>
              <a:t>9/2/2026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65EEC7-19C7-4B30-8DD9-5C9CD6DE8362}" type="slidenum">
              <a:rPr lang="es-SV" smtClean="0"/>
              <a:t>‹Nº›</a:t>
            </a:fld>
            <a:endParaRPr lang="es-SV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7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A1017-EF50-4F2D-9866-4EE80FBD47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/>
              <a:t>Especialización III:</a:t>
            </a:r>
            <a:br>
              <a:rPr lang="es-SV" dirty="0"/>
            </a:br>
            <a:r>
              <a:rPr lang="es-SV" dirty="0"/>
              <a:t>Lenguaje de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14693D-8CDA-4639-8F14-D86B2C3F12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dirty="0"/>
              <a:t>Programación Creativa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55612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D085B-F1AD-4475-B07D-BD66AA194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214"/>
            <a:ext cx="10515600" cy="2488678"/>
          </a:xfrm>
        </p:spPr>
        <p:txBody>
          <a:bodyPr>
            <a:normAutofit/>
          </a:bodyPr>
          <a:lstStyle/>
          <a:p>
            <a:pPr algn="l"/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Fundamentos Integrados de C#</a:t>
            </a:r>
            <a:br>
              <a:rPr lang="es-SV" b="1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es-SV" b="1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Métodos, Estructuras y POO Básica</a:t>
            </a:r>
          </a:p>
        </p:txBody>
      </p:sp>
    </p:spTree>
    <p:extLst>
      <p:ext uri="{BB962C8B-B14F-4D97-AF65-F5344CB8AC3E}">
        <p14:creationId xmlns:p14="http://schemas.microsoft.com/office/powerpoint/2010/main" val="1410705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254543-A521-4E72-BF9A-B0AE4C3C0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Métodos en C#: </a:t>
            </a:r>
            <a:r>
              <a:rPr lang="es-SV" dirty="0" err="1"/>
              <a:t>Modularización</a:t>
            </a:r>
            <a:r>
              <a:rPr lang="es-SV" dirty="0"/>
              <a:t> del Código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38FCB6-7D23-4F5A-9B72-6754577F6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SV" dirty="0"/>
              <a:t>¿Qué es un Método?</a:t>
            </a:r>
          </a:p>
          <a:p>
            <a:pPr lvl="1"/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Un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método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es un bloque de código que realiza una tarea específica y puede ser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reutilizado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múltiples veces.</a:t>
            </a:r>
          </a:p>
          <a:p>
            <a:pPr lvl="1"/>
            <a:endParaRPr lang="es-SV" dirty="0">
              <a:solidFill>
                <a:srgbClr val="0F1115"/>
              </a:solidFill>
              <a:latin typeface="quote-cjk-patch"/>
            </a:endParaRPr>
          </a:p>
          <a:p>
            <a:pPr marL="0" indent="0">
              <a:buNone/>
            </a:pPr>
            <a:r>
              <a:rPr lang="es-SV" dirty="0">
                <a:solidFill>
                  <a:srgbClr val="0F1115"/>
                </a:solidFill>
                <a:latin typeface="quote-cjk-patch"/>
              </a:rPr>
              <a:t>Sintaxis</a:t>
            </a:r>
          </a:p>
          <a:p>
            <a:pPr marL="0" indent="0">
              <a:buNone/>
            </a:pPr>
            <a:br>
              <a:rPr lang="es-SV" dirty="0">
                <a:solidFill>
                  <a:srgbClr val="0F1115"/>
                </a:solidFill>
                <a:latin typeface="quote-cjk-patch"/>
              </a:rPr>
            </a:br>
            <a:r>
              <a:rPr lang="es-SV" dirty="0">
                <a:solidFill>
                  <a:srgbClr val="0F1115"/>
                </a:solidFill>
                <a:latin typeface="quote-cjk-patch"/>
              </a:rPr>
              <a:t>[</a:t>
            </a:r>
            <a:r>
              <a:rPr lang="es-SV" dirty="0">
                <a:solidFill>
                  <a:schemeClr val="accent2"/>
                </a:solidFill>
                <a:latin typeface="quote-cjk-patch"/>
              </a:rPr>
              <a:t>modificador</a:t>
            </a:r>
            <a:r>
              <a:rPr lang="es-SV" dirty="0">
                <a:solidFill>
                  <a:srgbClr val="0F1115"/>
                </a:solidFill>
                <a:latin typeface="quote-cjk-patch"/>
              </a:rPr>
              <a:t>]   [</a:t>
            </a:r>
            <a:r>
              <a:rPr lang="es-SV" dirty="0" err="1">
                <a:solidFill>
                  <a:srgbClr val="7030A0"/>
                </a:solidFill>
                <a:latin typeface="quote-cjk-patch"/>
              </a:rPr>
              <a:t>tipoRetorno</a:t>
            </a:r>
            <a:r>
              <a:rPr lang="es-SV" dirty="0">
                <a:solidFill>
                  <a:srgbClr val="0F1115"/>
                </a:solidFill>
                <a:latin typeface="quote-cjk-patch"/>
              </a:rPr>
              <a:t>]   </a:t>
            </a:r>
            <a:r>
              <a:rPr lang="es-SV" dirty="0" err="1">
                <a:solidFill>
                  <a:srgbClr val="0070C0"/>
                </a:solidFill>
                <a:latin typeface="quote-cjk-patch"/>
              </a:rPr>
              <a:t>NombreMetodo</a:t>
            </a:r>
            <a:r>
              <a:rPr lang="es-SV" dirty="0">
                <a:solidFill>
                  <a:srgbClr val="0F1115"/>
                </a:solidFill>
                <a:latin typeface="quote-cjk-patch"/>
              </a:rPr>
              <a:t>([</a:t>
            </a:r>
            <a:r>
              <a:rPr lang="es-SV" dirty="0">
                <a:solidFill>
                  <a:schemeClr val="accent6"/>
                </a:solidFill>
                <a:latin typeface="quote-cjk-patch"/>
              </a:rPr>
              <a:t>parámetros de entrada</a:t>
            </a:r>
            <a:r>
              <a:rPr lang="es-SV" dirty="0">
                <a:solidFill>
                  <a:srgbClr val="0F1115"/>
                </a:solidFill>
                <a:latin typeface="quote-cjk-patch"/>
              </a:rPr>
              <a:t>])</a:t>
            </a:r>
          </a:p>
          <a:p>
            <a:pPr marL="0" indent="0">
              <a:buNone/>
            </a:pPr>
            <a:r>
              <a:rPr lang="es-SV" dirty="0">
                <a:solidFill>
                  <a:srgbClr val="0F1115"/>
                </a:solidFill>
                <a:latin typeface="quote-cjk-patch"/>
              </a:rPr>
              <a:t>{</a:t>
            </a:r>
          </a:p>
          <a:p>
            <a:pPr marL="0" indent="0">
              <a:buNone/>
            </a:pPr>
            <a:r>
              <a:rPr lang="es-SV" dirty="0">
                <a:solidFill>
                  <a:srgbClr val="0F1115"/>
                </a:solidFill>
                <a:latin typeface="quote-cjk-patch"/>
              </a:rPr>
              <a:t>	 // Cuerpo del método</a:t>
            </a:r>
          </a:p>
          <a:p>
            <a:pPr marL="0" indent="0">
              <a:buNone/>
            </a:pPr>
            <a:r>
              <a:rPr lang="es-SV" dirty="0" err="1">
                <a:solidFill>
                  <a:srgbClr val="0F1115"/>
                </a:solidFill>
                <a:latin typeface="quote-cjk-patch"/>
              </a:rPr>
              <a:t>return</a:t>
            </a:r>
            <a:r>
              <a:rPr lang="es-SV" dirty="0">
                <a:solidFill>
                  <a:srgbClr val="0F1115"/>
                </a:solidFill>
                <a:latin typeface="quote-cjk-patch"/>
              </a:rPr>
              <a:t> [valor];</a:t>
            </a:r>
          </a:p>
          <a:p>
            <a:pPr marL="0" indent="0">
              <a:buNone/>
            </a:pPr>
            <a:r>
              <a:rPr lang="es-SV" dirty="0">
                <a:solidFill>
                  <a:srgbClr val="0F1115"/>
                </a:solidFill>
                <a:latin typeface="quote-cjk-patch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7734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4A371-45CD-4317-861E-AE283F16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Ejemplo de Método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A6D68C-FF3B-40FB-B5F9-A8E4DEFF4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399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s-SV" dirty="0"/>
              <a:t>En el ejemplo se define un método “publico” con un tipo de retorno “Entero o </a:t>
            </a:r>
            <a:r>
              <a:rPr lang="es-SV" dirty="0" err="1"/>
              <a:t>int</a:t>
            </a:r>
            <a:r>
              <a:rPr lang="es-SV" dirty="0"/>
              <a:t>”, el nombre del método es “Sumar” y el método recibe 2 parámetros de entrada, de tipo “</a:t>
            </a:r>
            <a:r>
              <a:rPr lang="es-SV" dirty="0" err="1"/>
              <a:t>Int</a:t>
            </a:r>
            <a:r>
              <a:rPr lang="es-SV" dirty="0"/>
              <a:t>” cada uno.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5F78389-6AAA-42C9-B447-144A66961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418" y="1936537"/>
            <a:ext cx="4590853" cy="282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887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F4AF5-D44B-4013-B7CC-386E8AC83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Modificadores de Acceso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C34727-0E58-468E-AAA5-8BE7E629C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79628"/>
            <a:ext cx="10058400" cy="4251489"/>
          </a:xfrm>
        </p:spPr>
        <p:txBody>
          <a:bodyPr>
            <a:normAutofit fontScale="92500" lnSpcReduction="10000"/>
          </a:bodyPr>
          <a:lstStyle/>
          <a:p>
            <a:r>
              <a:rPr lang="es-SV" dirty="0" err="1"/>
              <a:t>public</a:t>
            </a:r>
            <a:r>
              <a:rPr lang="es-SV" dirty="0"/>
              <a:t>        // Accesible desde cualquier parte</a:t>
            </a:r>
          </a:p>
          <a:p>
            <a:r>
              <a:rPr lang="es-SV" dirty="0" err="1"/>
              <a:t>private</a:t>
            </a:r>
            <a:r>
              <a:rPr lang="es-SV" dirty="0"/>
              <a:t>       // Solo dentro de la misma clase</a:t>
            </a:r>
          </a:p>
          <a:p>
            <a:r>
              <a:rPr lang="es-SV" dirty="0" err="1"/>
              <a:t>protected</a:t>
            </a:r>
            <a:r>
              <a:rPr lang="es-SV" dirty="0"/>
              <a:t>     // Misma clase y clases heredadas</a:t>
            </a:r>
          </a:p>
          <a:p>
            <a:r>
              <a:rPr lang="es-SV" dirty="0" err="1"/>
              <a:t>internal</a:t>
            </a:r>
            <a:r>
              <a:rPr lang="es-SV" dirty="0"/>
              <a:t>      // Solo dentro del mismo ensamblado</a:t>
            </a:r>
          </a:p>
          <a:p>
            <a:r>
              <a:rPr lang="es-SV" dirty="0" err="1"/>
              <a:t>protected</a:t>
            </a:r>
            <a:r>
              <a:rPr lang="es-SV" dirty="0"/>
              <a:t> </a:t>
            </a:r>
            <a:r>
              <a:rPr lang="es-SV" dirty="0" err="1"/>
              <a:t>internal</a:t>
            </a:r>
            <a:r>
              <a:rPr lang="es-SV" dirty="0"/>
              <a:t> // Combinación de </a:t>
            </a:r>
            <a:r>
              <a:rPr lang="es-SV" dirty="0" err="1"/>
              <a:t>protected</a:t>
            </a:r>
            <a:r>
              <a:rPr lang="es-SV" dirty="0"/>
              <a:t> e </a:t>
            </a:r>
            <a:r>
              <a:rPr lang="es-SV" dirty="0" err="1"/>
              <a:t>internal</a:t>
            </a:r>
            <a:endParaRPr lang="es-SV" dirty="0"/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 err="1">
                <a:solidFill>
                  <a:srgbClr val="7030A0"/>
                </a:solidFill>
              </a:rPr>
              <a:t>static</a:t>
            </a:r>
            <a:r>
              <a:rPr lang="es-SV" b="1" dirty="0">
                <a:solidFill>
                  <a:srgbClr val="7030A0"/>
                </a:solidFill>
              </a:rPr>
              <a:t> </a:t>
            </a:r>
            <a:r>
              <a:rPr lang="es-SV" dirty="0"/>
              <a:t>es un modificador(adicional) que indica que un miembro (método, propiedad, campo) pertenece a la clase misma, no a instancias individuales de la clase.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Ejemplo:</a:t>
            </a:r>
          </a:p>
          <a:p>
            <a:pPr marL="0" indent="0">
              <a:buNone/>
            </a:pPr>
            <a:r>
              <a:rPr lang="es-SV" dirty="0"/>
              <a:t>	</a:t>
            </a:r>
            <a:r>
              <a:rPr lang="es-SV" dirty="0" err="1"/>
              <a:t>Public</a:t>
            </a:r>
            <a:r>
              <a:rPr lang="es-SV" dirty="0"/>
              <a:t> </a:t>
            </a:r>
            <a:r>
              <a:rPr lang="es-SV" dirty="0" err="1"/>
              <a:t>static</a:t>
            </a:r>
            <a:r>
              <a:rPr lang="es-SV" dirty="0"/>
              <a:t> </a:t>
            </a:r>
            <a:r>
              <a:rPr lang="es-SV" dirty="0" err="1"/>
              <a:t>double</a:t>
            </a:r>
            <a:r>
              <a:rPr lang="es-SV" dirty="0"/>
              <a:t> </a:t>
            </a:r>
            <a:r>
              <a:rPr lang="es-SV" dirty="0" err="1"/>
              <a:t>CalcularRenta</a:t>
            </a:r>
            <a:r>
              <a:rPr lang="es-SV" dirty="0"/>
              <a:t>(</a:t>
            </a:r>
            <a:r>
              <a:rPr lang="es-SV" dirty="0" err="1"/>
              <a:t>float</a:t>
            </a:r>
            <a:r>
              <a:rPr lang="es-SV" dirty="0"/>
              <a:t> salario, </a:t>
            </a:r>
            <a:r>
              <a:rPr lang="es-SV" dirty="0" err="1"/>
              <a:t>int</a:t>
            </a:r>
            <a:r>
              <a:rPr lang="es-SV" dirty="0"/>
              <a:t> </a:t>
            </a:r>
            <a:r>
              <a:rPr lang="es-SV" dirty="0" err="1"/>
              <a:t>antiguedad</a:t>
            </a:r>
            <a:r>
              <a:rPr lang="es-SV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8591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BEAA5-E934-404D-88D8-F6620988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Tipo de retorno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E8009-2A4A-4DDA-A9BC-00EB1AA0E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63" y="2469822"/>
            <a:ext cx="5234386" cy="33992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SV" b="1" dirty="0"/>
              <a:t>Tipos primitivos</a:t>
            </a:r>
          </a:p>
          <a:p>
            <a:r>
              <a:rPr lang="es-SV" dirty="0" err="1"/>
              <a:t>int</a:t>
            </a:r>
            <a:r>
              <a:rPr lang="es-SV" dirty="0"/>
              <a:t>          // </a:t>
            </a:r>
            <a:r>
              <a:rPr lang="es-SV" dirty="0" err="1"/>
              <a:t>Ej</a:t>
            </a:r>
            <a:r>
              <a:rPr lang="es-SV" dirty="0"/>
              <a:t>: </a:t>
            </a:r>
            <a:r>
              <a:rPr lang="es-SV" dirty="0" err="1"/>
              <a:t>public</a:t>
            </a:r>
            <a:r>
              <a:rPr lang="es-SV" dirty="0"/>
              <a:t> </a:t>
            </a:r>
            <a:r>
              <a:rPr lang="es-SV" dirty="0" err="1"/>
              <a:t>int</a:t>
            </a:r>
            <a:r>
              <a:rPr lang="es-SV" dirty="0"/>
              <a:t> Sumar()</a:t>
            </a:r>
          </a:p>
          <a:p>
            <a:r>
              <a:rPr lang="es-SV" dirty="0" err="1"/>
              <a:t>double</a:t>
            </a:r>
            <a:r>
              <a:rPr lang="es-SV" dirty="0"/>
              <a:t>       // </a:t>
            </a:r>
            <a:r>
              <a:rPr lang="es-SV" dirty="0" err="1"/>
              <a:t>Ej</a:t>
            </a:r>
            <a:r>
              <a:rPr lang="es-SV" dirty="0"/>
              <a:t>: </a:t>
            </a:r>
            <a:r>
              <a:rPr lang="es-SV" dirty="0" err="1"/>
              <a:t>public</a:t>
            </a:r>
            <a:r>
              <a:rPr lang="es-SV" dirty="0"/>
              <a:t> </a:t>
            </a:r>
            <a:r>
              <a:rPr lang="es-SV" dirty="0" err="1"/>
              <a:t>double</a:t>
            </a:r>
            <a:r>
              <a:rPr lang="es-SV" dirty="0"/>
              <a:t> </a:t>
            </a:r>
            <a:r>
              <a:rPr lang="es-SV" dirty="0" err="1"/>
              <a:t>CalcularPromedio</a:t>
            </a:r>
            <a:r>
              <a:rPr lang="es-SV" dirty="0"/>
              <a:t>()</a:t>
            </a:r>
          </a:p>
          <a:p>
            <a:r>
              <a:rPr lang="es-SV" dirty="0" err="1"/>
              <a:t>string</a:t>
            </a:r>
            <a:r>
              <a:rPr lang="es-SV" dirty="0"/>
              <a:t>       // </a:t>
            </a:r>
            <a:r>
              <a:rPr lang="es-SV" dirty="0" err="1"/>
              <a:t>Ej</a:t>
            </a:r>
            <a:r>
              <a:rPr lang="es-SV" dirty="0"/>
              <a:t>: </a:t>
            </a:r>
            <a:r>
              <a:rPr lang="es-SV" dirty="0" err="1"/>
              <a:t>public</a:t>
            </a:r>
            <a:r>
              <a:rPr lang="es-SV" dirty="0"/>
              <a:t> </a:t>
            </a:r>
            <a:r>
              <a:rPr lang="es-SV" dirty="0" err="1"/>
              <a:t>string</a:t>
            </a:r>
            <a:r>
              <a:rPr lang="es-SV" dirty="0"/>
              <a:t> </a:t>
            </a:r>
            <a:r>
              <a:rPr lang="es-SV" dirty="0" err="1"/>
              <a:t>ObtenerNombre</a:t>
            </a:r>
            <a:r>
              <a:rPr lang="es-SV" dirty="0"/>
              <a:t>()</a:t>
            </a:r>
          </a:p>
          <a:p>
            <a:r>
              <a:rPr lang="es-SV" dirty="0" err="1"/>
              <a:t>bool</a:t>
            </a:r>
            <a:r>
              <a:rPr lang="es-SV" dirty="0"/>
              <a:t>         // </a:t>
            </a:r>
            <a:r>
              <a:rPr lang="es-SV" dirty="0" err="1"/>
              <a:t>Ej</a:t>
            </a:r>
            <a:r>
              <a:rPr lang="es-SV" dirty="0"/>
              <a:t>: </a:t>
            </a:r>
            <a:r>
              <a:rPr lang="es-SV" dirty="0" err="1"/>
              <a:t>public</a:t>
            </a:r>
            <a:r>
              <a:rPr lang="es-SV" dirty="0"/>
              <a:t> </a:t>
            </a:r>
            <a:r>
              <a:rPr lang="es-SV" dirty="0" err="1"/>
              <a:t>bool</a:t>
            </a:r>
            <a:r>
              <a:rPr lang="es-SV" dirty="0"/>
              <a:t> </a:t>
            </a:r>
            <a:r>
              <a:rPr lang="es-SV" dirty="0" err="1"/>
              <a:t>EsValido</a:t>
            </a:r>
            <a:r>
              <a:rPr lang="es-SV" dirty="0"/>
              <a:t>()</a:t>
            </a:r>
          </a:p>
          <a:p>
            <a:r>
              <a:rPr lang="es-SV" dirty="0" err="1"/>
              <a:t>void</a:t>
            </a:r>
            <a:r>
              <a:rPr lang="es-SV" dirty="0"/>
              <a:t>         // No retorna valor</a:t>
            </a:r>
          </a:p>
          <a:p>
            <a:endParaRPr lang="es-SV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8FFDD0-0CE1-44FF-95A4-D671A62900B7}"/>
              </a:ext>
            </a:extLst>
          </p:cNvPr>
          <p:cNvSpPr txBox="1"/>
          <p:nvPr/>
        </p:nvSpPr>
        <p:spPr>
          <a:xfrm>
            <a:off x="6126480" y="2469822"/>
            <a:ext cx="53098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s-SV" b="1" dirty="0"/>
              <a:t>Tipos complejos</a:t>
            </a:r>
          </a:p>
          <a:p>
            <a:r>
              <a:rPr lang="es-SV" dirty="0" err="1"/>
              <a:t>List</a:t>
            </a:r>
            <a:r>
              <a:rPr lang="es-SV" dirty="0"/>
              <a:t>&lt;</a:t>
            </a:r>
            <a:r>
              <a:rPr lang="es-SV" dirty="0" err="1"/>
              <a:t>string</a:t>
            </a:r>
            <a:r>
              <a:rPr lang="es-SV" dirty="0"/>
              <a:t>&gt; // </a:t>
            </a:r>
            <a:r>
              <a:rPr lang="es-SV" dirty="0" err="1"/>
              <a:t>Ej</a:t>
            </a:r>
            <a:r>
              <a:rPr lang="es-SV" dirty="0"/>
              <a:t>: </a:t>
            </a:r>
            <a:r>
              <a:rPr lang="es-SV" dirty="0" err="1"/>
              <a:t>public</a:t>
            </a:r>
            <a:r>
              <a:rPr lang="es-SV" dirty="0"/>
              <a:t> </a:t>
            </a:r>
            <a:r>
              <a:rPr lang="es-SV" dirty="0" err="1"/>
              <a:t>List</a:t>
            </a:r>
            <a:r>
              <a:rPr lang="es-SV" dirty="0"/>
              <a:t>&lt;</a:t>
            </a:r>
            <a:r>
              <a:rPr lang="es-SV" dirty="0" err="1"/>
              <a:t>string</a:t>
            </a:r>
            <a:r>
              <a:rPr lang="es-SV" dirty="0"/>
              <a:t>&gt; </a:t>
            </a:r>
            <a:r>
              <a:rPr lang="es-SV" dirty="0" err="1"/>
              <a:t>ObtenerUsuarios</a:t>
            </a:r>
            <a:r>
              <a:rPr lang="es-SV" dirty="0"/>
              <a:t>()</a:t>
            </a:r>
          </a:p>
          <a:p>
            <a:r>
              <a:rPr lang="es-SV" dirty="0" err="1"/>
              <a:t>DateTime</a:t>
            </a:r>
            <a:r>
              <a:rPr lang="es-SV" dirty="0"/>
              <a:t>     // </a:t>
            </a:r>
            <a:r>
              <a:rPr lang="es-SV" dirty="0" err="1"/>
              <a:t>Ej</a:t>
            </a:r>
            <a:r>
              <a:rPr lang="es-SV" dirty="0"/>
              <a:t>: </a:t>
            </a:r>
            <a:r>
              <a:rPr lang="es-SV" dirty="0" err="1"/>
              <a:t>public</a:t>
            </a:r>
            <a:r>
              <a:rPr lang="es-SV" dirty="0"/>
              <a:t> </a:t>
            </a:r>
            <a:r>
              <a:rPr lang="es-SV" dirty="0" err="1"/>
              <a:t>DateTime</a:t>
            </a:r>
            <a:r>
              <a:rPr lang="es-SV" dirty="0"/>
              <a:t> </a:t>
            </a:r>
            <a:r>
              <a:rPr lang="es-SV" dirty="0" err="1"/>
              <a:t>ObtenerFecha</a:t>
            </a:r>
            <a:r>
              <a:rPr lang="es-SV" dirty="0"/>
              <a:t>()</a:t>
            </a:r>
          </a:p>
          <a:p>
            <a:r>
              <a:rPr lang="es-SV" dirty="0" err="1"/>
              <a:t>TipoClase</a:t>
            </a:r>
            <a:r>
              <a:rPr lang="es-SV" dirty="0"/>
              <a:t>    // </a:t>
            </a:r>
            <a:r>
              <a:rPr lang="es-SV" dirty="0" err="1"/>
              <a:t>Ej</a:t>
            </a:r>
            <a:r>
              <a:rPr lang="es-SV" dirty="0"/>
              <a:t>: </a:t>
            </a:r>
            <a:r>
              <a:rPr lang="es-SV" dirty="0" err="1"/>
              <a:t>public</a:t>
            </a:r>
            <a:r>
              <a:rPr lang="es-SV" dirty="0"/>
              <a:t> Usuario </a:t>
            </a:r>
            <a:r>
              <a:rPr lang="es-SV" dirty="0" err="1"/>
              <a:t>CrearUsuario</a:t>
            </a:r>
            <a:r>
              <a:rPr lang="es-SV" dirty="0"/>
              <a:t>()</a:t>
            </a:r>
          </a:p>
          <a:p>
            <a:endParaRPr lang="es-SV" dirty="0"/>
          </a:p>
          <a:p>
            <a:pPr marL="0" indent="0">
              <a:buNone/>
            </a:pPr>
            <a:r>
              <a:rPr lang="es-SV" b="1" dirty="0"/>
              <a:t>Tipos especiales</a:t>
            </a:r>
          </a:p>
          <a:p>
            <a:r>
              <a:rPr lang="es-SV" dirty="0" err="1"/>
              <a:t>Task</a:t>
            </a:r>
            <a:r>
              <a:rPr lang="es-SV" dirty="0"/>
              <a:t>         // Métodos asíncronos</a:t>
            </a:r>
          </a:p>
          <a:p>
            <a:r>
              <a:rPr lang="es-SV" dirty="0" err="1"/>
              <a:t>Task</a:t>
            </a:r>
            <a:r>
              <a:rPr lang="es-SV" dirty="0"/>
              <a:t>&lt;T&gt;      // </a:t>
            </a:r>
            <a:r>
              <a:rPr lang="es-SV" dirty="0" err="1"/>
              <a:t>Ej</a:t>
            </a:r>
            <a:r>
              <a:rPr lang="es-SV" dirty="0"/>
              <a:t>: </a:t>
            </a:r>
            <a:r>
              <a:rPr lang="es-SV" dirty="0" err="1"/>
              <a:t>public</a:t>
            </a:r>
            <a:r>
              <a:rPr lang="es-SV" dirty="0"/>
              <a:t> </a:t>
            </a:r>
            <a:r>
              <a:rPr lang="es-SV" dirty="0" err="1"/>
              <a:t>Task</a:t>
            </a:r>
            <a:r>
              <a:rPr lang="es-SV" dirty="0"/>
              <a:t>&lt;</a:t>
            </a:r>
            <a:r>
              <a:rPr lang="es-SV" dirty="0" err="1"/>
              <a:t>int</a:t>
            </a:r>
            <a:r>
              <a:rPr lang="es-SV" dirty="0"/>
              <a:t>&gt; </a:t>
            </a:r>
            <a:r>
              <a:rPr lang="es-SV" dirty="0" err="1"/>
              <a:t>ProcesarAsync</a:t>
            </a:r>
            <a:r>
              <a:rPr lang="es-SV" dirty="0"/>
              <a:t>()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4119843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1D32A-A51F-41FD-B6C0-2A8C4BBC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Ejemplo de definición parámetros de entrada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4C1C80-2EAD-4B16-865C-967845F8D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5872" y="1845734"/>
            <a:ext cx="7343481" cy="4023360"/>
          </a:xfrm>
        </p:spPr>
        <p:txBody>
          <a:bodyPr/>
          <a:lstStyle/>
          <a:p>
            <a:endParaRPr lang="es-SV" dirty="0"/>
          </a:p>
          <a:p>
            <a:r>
              <a:rPr lang="es-SV" dirty="0"/>
              <a:t>(</a:t>
            </a:r>
            <a:r>
              <a:rPr lang="es-SV" dirty="0" err="1"/>
              <a:t>int</a:t>
            </a:r>
            <a:r>
              <a:rPr lang="es-SV" dirty="0"/>
              <a:t> a, </a:t>
            </a:r>
            <a:r>
              <a:rPr lang="es-SV" dirty="0" err="1"/>
              <a:t>int</a:t>
            </a:r>
            <a:r>
              <a:rPr lang="es-SV" dirty="0"/>
              <a:t> b)                     // Dos parámetros </a:t>
            </a:r>
            <a:r>
              <a:rPr lang="es-SV" dirty="0" err="1"/>
              <a:t>int</a:t>
            </a:r>
            <a:endParaRPr lang="es-SV" dirty="0"/>
          </a:p>
          <a:p>
            <a:endParaRPr lang="es-SV" dirty="0"/>
          </a:p>
          <a:p>
            <a:r>
              <a:rPr lang="es-SV" dirty="0"/>
              <a:t>(</a:t>
            </a:r>
            <a:r>
              <a:rPr lang="es-SV" dirty="0" err="1"/>
              <a:t>string</a:t>
            </a:r>
            <a:r>
              <a:rPr lang="es-SV" dirty="0"/>
              <a:t> nombre, </a:t>
            </a:r>
            <a:r>
              <a:rPr lang="es-SV" dirty="0" err="1"/>
              <a:t>int</a:t>
            </a:r>
            <a:r>
              <a:rPr lang="es-SV" dirty="0"/>
              <a:t> edad)          // Diferentes tipos</a:t>
            </a:r>
          </a:p>
          <a:p>
            <a:endParaRPr lang="es-SV" dirty="0"/>
          </a:p>
          <a:p>
            <a:r>
              <a:rPr lang="es-SV" dirty="0"/>
              <a:t>()                                 // Sin parámetros</a:t>
            </a:r>
          </a:p>
          <a:p>
            <a:endParaRPr lang="es-SV" dirty="0"/>
          </a:p>
          <a:p>
            <a:r>
              <a:rPr lang="es-SV" dirty="0"/>
              <a:t>(</a:t>
            </a:r>
            <a:r>
              <a:rPr lang="es-SV" dirty="0" err="1"/>
              <a:t>int</a:t>
            </a:r>
            <a:r>
              <a:rPr lang="es-SV" dirty="0"/>
              <a:t> a, </a:t>
            </a:r>
            <a:r>
              <a:rPr lang="es-SV" dirty="0" err="1"/>
              <a:t>string</a:t>
            </a:r>
            <a:r>
              <a:rPr lang="es-SV" dirty="0"/>
              <a:t> b, </a:t>
            </a:r>
            <a:r>
              <a:rPr lang="es-SV" dirty="0" err="1"/>
              <a:t>bool</a:t>
            </a:r>
            <a:r>
              <a:rPr lang="es-SV" dirty="0"/>
              <a:t> c = true)   // Con parámetro opcional</a:t>
            </a:r>
          </a:p>
        </p:txBody>
      </p:sp>
    </p:spTree>
    <p:extLst>
      <p:ext uri="{BB962C8B-B14F-4D97-AF65-F5344CB8AC3E}">
        <p14:creationId xmlns:p14="http://schemas.microsoft.com/office/powerpoint/2010/main" val="1683756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7BDBE-661A-4AA2-B442-FE313D6A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s-SV" dirty="0"/>
              <a:t>Ejemplo definición cuerpo del Método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C26BAE-1378-48BC-B82D-3BFC2DCA9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9954" y="1845734"/>
            <a:ext cx="5184743" cy="40233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SV" dirty="0"/>
              <a:t>{ </a:t>
            </a:r>
          </a:p>
          <a:p>
            <a:pPr marL="0" indent="0">
              <a:buNone/>
            </a:pPr>
            <a:r>
              <a:rPr lang="es-SV" dirty="0"/>
              <a:t>	</a:t>
            </a:r>
            <a:r>
              <a:rPr lang="es-SV" dirty="0">
                <a:solidFill>
                  <a:schemeClr val="accent2"/>
                </a:solidFill>
              </a:rPr>
              <a:t>// Variables locales</a:t>
            </a:r>
          </a:p>
          <a:p>
            <a:pPr marL="0" indent="0">
              <a:buNone/>
            </a:pPr>
            <a:r>
              <a:rPr lang="es-SV" dirty="0"/>
              <a:t>	</a:t>
            </a:r>
            <a:r>
              <a:rPr lang="es-SV" dirty="0" err="1">
                <a:solidFill>
                  <a:srgbClr val="FF0000"/>
                </a:solidFill>
              </a:rPr>
              <a:t>int</a:t>
            </a:r>
            <a:r>
              <a:rPr lang="es-SV" dirty="0"/>
              <a:t> </a:t>
            </a:r>
            <a:r>
              <a:rPr lang="es-SV" dirty="0">
                <a:solidFill>
                  <a:srgbClr val="0070C0"/>
                </a:solidFill>
              </a:rPr>
              <a:t>resultado</a:t>
            </a:r>
            <a:r>
              <a:rPr lang="es-SV" dirty="0"/>
              <a:t>;</a:t>
            </a:r>
          </a:p>
          <a:p>
            <a:pPr marL="0" indent="0">
              <a:buNone/>
            </a:pPr>
            <a:r>
              <a:rPr lang="es-SV" dirty="0"/>
              <a:t>	</a:t>
            </a:r>
            <a:r>
              <a:rPr lang="es-SV" dirty="0" err="1">
                <a:solidFill>
                  <a:srgbClr val="FF0000"/>
                </a:solidFill>
              </a:rPr>
              <a:t>string</a:t>
            </a:r>
            <a:r>
              <a:rPr lang="es-SV" dirty="0"/>
              <a:t> </a:t>
            </a:r>
            <a:r>
              <a:rPr lang="es-SV" dirty="0">
                <a:solidFill>
                  <a:srgbClr val="7030A0"/>
                </a:solidFill>
              </a:rPr>
              <a:t>mensaje</a:t>
            </a:r>
            <a:r>
              <a:rPr lang="es-SV" dirty="0"/>
              <a:t> = "Procesando";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	</a:t>
            </a:r>
            <a:r>
              <a:rPr lang="es-SV" dirty="0">
                <a:solidFill>
                  <a:schemeClr val="accent2"/>
                </a:solidFill>
              </a:rPr>
              <a:t>// Lógica</a:t>
            </a:r>
          </a:p>
          <a:p>
            <a:pPr marL="0" indent="0">
              <a:buNone/>
            </a:pPr>
            <a:r>
              <a:rPr lang="es-SV" dirty="0"/>
              <a:t>	</a:t>
            </a:r>
            <a:r>
              <a:rPr lang="es-SV" dirty="0">
                <a:solidFill>
                  <a:srgbClr val="0070C0"/>
                </a:solidFill>
              </a:rPr>
              <a:t>resultado</a:t>
            </a:r>
            <a:r>
              <a:rPr lang="es-SV" dirty="0"/>
              <a:t> = a + b;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	</a:t>
            </a:r>
            <a:r>
              <a:rPr lang="es-SV" dirty="0">
                <a:solidFill>
                  <a:schemeClr val="accent2"/>
                </a:solidFill>
              </a:rPr>
              <a:t>// Retorno</a:t>
            </a:r>
          </a:p>
          <a:p>
            <a:pPr marL="0" indent="0">
              <a:buNone/>
            </a:pPr>
            <a:r>
              <a:rPr lang="es-SV" dirty="0"/>
              <a:t>	</a:t>
            </a:r>
            <a:r>
              <a:rPr lang="es-SV" dirty="0" err="1">
                <a:solidFill>
                  <a:srgbClr val="FF0000"/>
                </a:solidFill>
              </a:rPr>
              <a:t>return</a:t>
            </a:r>
            <a:r>
              <a:rPr lang="es-SV" dirty="0"/>
              <a:t> </a:t>
            </a:r>
            <a:r>
              <a:rPr lang="es-SV" dirty="0">
                <a:solidFill>
                  <a:srgbClr val="0070C0"/>
                </a:solidFill>
              </a:rPr>
              <a:t>resultado</a:t>
            </a:r>
            <a:r>
              <a:rPr lang="es-SV" dirty="0"/>
              <a:t>;</a:t>
            </a:r>
          </a:p>
          <a:p>
            <a:pPr marL="0" indent="0">
              <a:buNone/>
            </a:pPr>
            <a:r>
              <a:rPr lang="es-SV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6344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639B77-403B-4A74-BB31-0AAE16848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EC5569-BE54-43C0-830F-7E408B49F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SV" dirty="0"/>
              <a:t>Crear los siguientes Métodos.</a:t>
            </a:r>
          </a:p>
          <a:p>
            <a:pPr marL="0" indent="0">
              <a:buNone/>
            </a:pPr>
            <a:endParaRPr lang="es-SV" dirty="0"/>
          </a:p>
          <a:p>
            <a:pPr marL="457200" indent="-457200">
              <a:buFont typeface="+mj-lt"/>
              <a:buAutoNum type="arabicPeriod"/>
            </a:pPr>
            <a:r>
              <a:rPr lang="es-SV" dirty="0" err="1"/>
              <a:t>CalcularSalarioBase</a:t>
            </a:r>
            <a:r>
              <a:rPr lang="es-SV" dirty="0"/>
              <a:t>: Recibe horas trabajadas y tarifa por hora, retorna salario base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 err="1"/>
              <a:t>CalcularHorasExtra</a:t>
            </a:r>
            <a:r>
              <a:rPr lang="es-SV" dirty="0"/>
              <a:t>: Recibe horas trabajadas, retorna horas extra (considerar &gt; 40 horas)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 err="1"/>
              <a:t>CalcularPagoHorasExtra</a:t>
            </a:r>
            <a:r>
              <a:rPr lang="es-SV" dirty="0"/>
              <a:t>: Recibe horas extra y tarifa por hora extra, retorna pago de horas extra (tarifa * 1.5)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Calcular salario final.</a:t>
            </a:r>
            <a:br>
              <a:rPr lang="es-SV" dirty="0"/>
            </a:br>
            <a:endParaRPr lang="es-SV" dirty="0"/>
          </a:p>
          <a:p>
            <a:pPr marL="0" indent="0">
              <a:buNone/>
            </a:pPr>
            <a:r>
              <a:rPr lang="es-SV" dirty="0" err="1"/>
              <a:t>Main</a:t>
            </a:r>
            <a:r>
              <a:rPr lang="es-SV" dirty="0"/>
              <a:t>: Programa principal que:</a:t>
            </a:r>
          </a:p>
          <a:p>
            <a:r>
              <a:rPr lang="es-SV" dirty="0"/>
              <a:t>Pida al usuario: horas trabajadas, tarifa por hora, tarifa de hora extra nombre empleado</a:t>
            </a:r>
          </a:p>
          <a:p>
            <a:r>
              <a:rPr lang="es-SV" dirty="0"/>
              <a:t>Use TODOS los métodos anteriores.</a:t>
            </a:r>
          </a:p>
        </p:txBody>
      </p:sp>
    </p:spTree>
    <p:extLst>
      <p:ext uri="{BB962C8B-B14F-4D97-AF65-F5344CB8AC3E}">
        <p14:creationId xmlns:p14="http://schemas.microsoft.com/office/powerpoint/2010/main" val="1204595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2EC7D-02FF-4DB9-B753-7D24DCF36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Estructuras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4D2140-90E3-4727-B9C9-C8318919C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Estructuras de datos son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formas organizadas de almacenar y manipular colecciones de información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en memoria. </a:t>
            </a:r>
          </a:p>
          <a:p>
            <a:pPr marL="0" indent="0">
              <a:buNone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Son como "contenedores inteligentes" que nos permiten trabajar con múltiples datos de manera eficiente.</a:t>
            </a:r>
            <a:endParaRPr lang="es-SV" dirty="0"/>
          </a:p>
          <a:p>
            <a:endParaRPr lang="es-SV" dirty="0"/>
          </a:p>
          <a:p>
            <a:r>
              <a:rPr lang="es-SV" dirty="0"/>
              <a:t>¿Por qué necesitamos Estructuras de Datos?</a:t>
            </a:r>
          </a:p>
          <a:p>
            <a:pPr marL="0" indent="0" algn="l">
              <a:buNone/>
            </a:pP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Analogía:</a:t>
            </a:r>
            <a:b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Imagina que tienes libros: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📚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Variables sueltas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= Libros tirados en el piso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📚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Array o Arreglo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= Estante con espacios fijos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📚 </a:t>
            </a:r>
            <a:r>
              <a:rPr lang="es-SV" b="1" i="0" dirty="0" err="1">
                <a:solidFill>
                  <a:srgbClr val="0F1115"/>
                </a:solidFill>
                <a:effectLst/>
                <a:latin typeface="quote-cjk-patch"/>
              </a:rPr>
              <a:t>List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= Estante expandible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📚 </a:t>
            </a:r>
            <a:r>
              <a:rPr lang="es-SV" b="1" i="0" dirty="0" err="1">
                <a:solidFill>
                  <a:srgbClr val="0F1115"/>
                </a:solidFill>
                <a:effectLst/>
                <a:latin typeface="quote-cjk-patch"/>
              </a:rPr>
              <a:t>Dictionary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= Biblioteca con catálogo por ISBN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019355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63AD4-D21D-494D-99A1-576D0458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Tipos de Colecciones en C#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573929-9F66-4EE8-94C4-1B40DE28B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dirty="0"/>
              <a:t>Clasificación por propósito:</a:t>
            </a:r>
          </a:p>
          <a:p>
            <a:pPr marL="0" indent="0">
              <a:buNone/>
            </a:pPr>
            <a:r>
              <a:rPr lang="es-SV" dirty="0"/>
              <a:t>1. Colecciones Secuenciales (ordenadas)</a:t>
            </a:r>
          </a:p>
          <a:p>
            <a:r>
              <a:rPr lang="es-SV" dirty="0" err="1"/>
              <a:t>List</a:t>
            </a:r>
            <a:r>
              <a:rPr lang="es-SV" dirty="0"/>
              <a:t>&lt;T&gt;: Lista dinámica, acceso por índice</a:t>
            </a:r>
          </a:p>
          <a:p>
            <a:r>
              <a:rPr lang="es-SV" dirty="0" err="1"/>
              <a:t>Queue</a:t>
            </a:r>
            <a:r>
              <a:rPr lang="es-SV" dirty="0"/>
              <a:t>&lt;T&gt;: Primero en entrar, primero en salir (FIFO)</a:t>
            </a:r>
          </a:p>
          <a:p>
            <a:r>
              <a:rPr lang="es-SV" dirty="0" err="1"/>
              <a:t>Stack</a:t>
            </a:r>
            <a:r>
              <a:rPr lang="es-SV" dirty="0"/>
              <a:t>&lt;T&gt;: Último en entrar, primero en salir (LIFO)</a:t>
            </a:r>
          </a:p>
          <a:p>
            <a:endParaRPr lang="es-SV" dirty="0"/>
          </a:p>
          <a:p>
            <a:pPr marL="0" indent="0">
              <a:buNone/>
            </a:pPr>
            <a:r>
              <a:rPr lang="es-SV" dirty="0"/>
              <a:t>2. Colecciones por Clave-Valor</a:t>
            </a:r>
          </a:p>
          <a:p>
            <a:r>
              <a:rPr lang="es-SV" dirty="0" err="1"/>
              <a:t>Dictionary</a:t>
            </a:r>
            <a:r>
              <a:rPr lang="es-SV" dirty="0"/>
              <a:t>&lt;</a:t>
            </a:r>
            <a:r>
              <a:rPr lang="es-SV" dirty="0" err="1"/>
              <a:t>TKey</a:t>
            </a:r>
            <a:r>
              <a:rPr lang="es-SV" dirty="0"/>
              <a:t>, </a:t>
            </a:r>
            <a:r>
              <a:rPr lang="es-SV" dirty="0" err="1"/>
              <a:t>TValue</a:t>
            </a:r>
            <a:r>
              <a:rPr lang="es-SV" dirty="0"/>
              <a:t>&gt;: Acceso rápido por clave única</a:t>
            </a:r>
          </a:p>
          <a:p>
            <a:r>
              <a:rPr lang="es-SV" dirty="0" err="1"/>
              <a:t>SortedDictionary</a:t>
            </a:r>
            <a:r>
              <a:rPr lang="es-SV" dirty="0"/>
              <a:t>&lt;</a:t>
            </a:r>
            <a:r>
              <a:rPr lang="es-SV" dirty="0" err="1"/>
              <a:t>TKey</a:t>
            </a:r>
            <a:r>
              <a:rPr lang="es-SV" dirty="0"/>
              <a:t>, </a:t>
            </a:r>
            <a:r>
              <a:rPr lang="es-SV" dirty="0" err="1"/>
              <a:t>TValue</a:t>
            </a:r>
            <a:r>
              <a:rPr lang="es-SV" dirty="0"/>
              <a:t>&gt;: Ordenado por clave</a:t>
            </a:r>
          </a:p>
        </p:txBody>
      </p:sp>
    </p:spTree>
    <p:extLst>
      <p:ext uri="{BB962C8B-B14F-4D97-AF65-F5344CB8AC3E}">
        <p14:creationId xmlns:p14="http://schemas.microsoft.com/office/powerpoint/2010/main" val="1498653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CDEE2-4902-4691-83E0-5CE97C59E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Tipos de Colecciones en C#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7E7879-4569-4525-8DB3-1942EC80F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dirty="0"/>
              <a:t>3. Colecciones por Conjunto</a:t>
            </a:r>
          </a:p>
          <a:p>
            <a:r>
              <a:rPr lang="es-SV" dirty="0" err="1"/>
              <a:t>HashSet</a:t>
            </a:r>
            <a:r>
              <a:rPr lang="es-SV" dirty="0"/>
              <a:t>&lt;T&gt;: Elementos únicos, sin orden</a:t>
            </a:r>
          </a:p>
          <a:p>
            <a:r>
              <a:rPr lang="es-SV" dirty="0" err="1"/>
              <a:t>SortedSet</a:t>
            </a:r>
            <a:r>
              <a:rPr lang="es-SV" dirty="0"/>
              <a:t>&lt;T&gt;: Elementos únicos, ordenados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Nos enfocaremos en </a:t>
            </a:r>
            <a:r>
              <a:rPr lang="es-SV" dirty="0" err="1"/>
              <a:t>List</a:t>
            </a:r>
            <a:r>
              <a:rPr lang="es-SV" dirty="0"/>
              <a:t> (de las más usadas en </a:t>
            </a:r>
            <a:r>
              <a:rPr lang="es-SV" dirty="0" err="1"/>
              <a:t>backend</a:t>
            </a:r>
            <a:r>
              <a:rPr lang="es-SV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46546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D641C-465C-4BC0-BBF6-E5C72F88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 err="1"/>
              <a:t>List</a:t>
            </a:r>
            <a:r>
              <a:rPr lang="es-SV" dirty="0"/>
              <a:t>&lt;T&gt; - La Lista Dinámica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D2D40C-BA20-467C-84CA-B57FE33BA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dirty="0"/>
              <a:t>Características principales:</a:t>
            </a:r>
          </a:p>
          <a:p>
            <a:pPr marL="0" indent="0">
              <a:buNone/>
            </a:pPr>
            <a:endParaRPr lang="es-SV" dirty="0"/>
          </a:p>
          <a:p>
            <a:r>
              <a:rPr lang="es-SV" dirty="0"/>
              <a:t>✅ Tamaño dinámico: Crece según necesidad</a:t>
            </a:r>
          </a:p>
          <a:p>
            <a:r>
              <a:rPr lang="es-SV" dirty="0"/>
              <a:t>✅ Acceso por índice: Como </a:t>
            </a:r>
            <a:r>
              <a:rPr lang="es-SV" dirty="0" err="1"/>
              <a:t>arrays</a:t>
            </a:r>
            <a:r>
              <a:rPr lang="es-SV" dirty="0"/>
              <a:t> pero flexible</a:t>
            </a:r>
          </a:p>
          <a:p>
            <a:r>
              <a:rPr lang="es-SV" dirty="0"/>
              <a:t>✅ Mantenimiento de orden: Los elementos conservan su posición</a:t>
            </a:r>
          </a:p>
          <a:p>
            <a:r>
              <a:rPr lang="es-SV" dirty="0"/>
              <a:t>✅ Permite duplicados: Un mismo valor puede aparecer múltiples veces</a:t>
            </a:r>
          </a:p>
          <a:p>
            <a:r>
              <a:rPr lang="es-SV" dirty="0"/>
              <a:t>✅ Genérica: Trabaja con cualquier tipo de dato</a:t>
            </a:r>
          </a:p>
        </p:txBody>
      </p:sp>
    </p:spTree>
    <p:extLst>
      <p:ext uri="{BB962C8B-B14F-4D97-AF65-F5344CB8AC3E}">
        <p14:creationId xmlns:p14="http://schemas.microsoft.com/office/powerpoint/2010/main" val="205789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A336C-E389-4C17-8428-649899550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 err="1"/>
              <a:t>List</a:t>
            </a:r>
            <a:r>
              <a:rPr lang="es-SV" dirty="0"/>
              <a:t>&lt;T&gt; - La Lista Dinámica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4620BD5-A282-48D3-983C-B5E48B392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961" y="2826769"/>
            <a:ext cx="7450892" cy="194319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B7147CD-0ACE-49AF-A790-92C6F66B844D}"/>
              </a:ext>
            </a:extLst>
          </p:cNvPr>
          <p:cNvSpPr txBox="1"/>
          <p:nvPr/>
        </p:nvSpPr>
        <p:spPr>
          <a:xfrm>
            <a:off x="933254" y="2073896"/>
            <a:ext cx="5778631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SV" sz="2800" dirty="0"/>
              <a:t>Sintaxis</a:t>
            </a:r>
          </a:p>
        </p:txBody>
      </p:sp>
    </p:spTree>
    <p:extLst>
      <p:ext uri="{BB962C8B-B14F-4D97-AF65-F5344CB8AC3E}">
        <p14:creationId xmlns:p14="http://schemas.microsoft.com/office/powerpoint/2010/main" val="3282469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98804-A812-49BA-AE6B-9385D34D7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Operaciones Esenciales con </a:t>
            </a:r>
            <a:r>
              <a:rPr lang="es-SV" dirty="0" err="1"/>
              <a:t>List</a:t>
            </a:r>
            <a:r>
              <a:rPr lang="es-SV" dirty="0"/>
              <a:t>&lt;T&gt;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EEF291-6A5F-4AF4-8FB0-6879BD937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6190"/>
            <a:ext cx="10515600" cy="4140773"/>
          </a:xfrm>
        </p:spPr>
        <p:txBody>
          <a:bodyPr/>
          <a:lstStyle/>
          <a:p>
            <a:pPr marL="0" indent="0">
              <a:buNone/>
            </a:pPr>
            <a:r>
              <a:rPr lang="es-SV" dirty="0"/>
              <a:t>CRUD Básico (</a:t>
            </a:r>
            <a:r>
              <a:rPr lang="es-SV" dirty="0" err="1"/>
              <a:t>Create</a:t>
            </a:r>
            <a:r>
              <a:rPr lang="es-SV" dirty="0"/>
              <a:t>, </a:t>
            </a:r>
            <a:r>
              <a:rPr lang="es-SV" dirty="0" err="1"/>
              <a:t>Read</a:t>
            </a:r>
            <a:r>
              <a:rPr lang="es-SV" dirty="0"/>
              <a:t>, </a:t>
            </a:r>
            <a:r>
              <a:rPr lang="es-SV" dirty="0" err="1"/>
              <a:t>Update</a:t>
            </a:r>
            <a:r>
              <a:rPr lang="es-SV" dirty="0"/>
              <a:t>, </a:t>
            </a:r>
            <a:r>
              <a:rPr lang="es-SV" dirty="0" err="1"/>
              <a:t>Delete</a:t>
            </a:r>
            <a:r>
              <a:rPr lang="es-SV" dirty="0"/>
              <a:t>)</a:t>
            </a:r>
          </a:p>
          <a:p>
            <a:r>
              <a:rPr lang="es-SV" dirty="0" err="1"/>
              <a:t>Create</a:t>
            </a:r>
            <a:endParaRPr lang="es-SV" dirty="0"/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r>
              <a:rPr lang="es-SV" dirty="0" err="1"/>
              <a:t>Read</a:t>
            </a:r>
            <a:endParaRPr lang="es-SV" dirty="0"/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4F44DE-7FC5-4058-B7E8-0178BA80C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027" y="2845451"/>
            <a:ext cx="8134270" cy="15163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48A58E1-9F26-4B71-883E-DF1C8FFF3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996" y="4757429"/>
            <a:ext cx="9191131" cy="141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69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B40CE-D9CC-4236-BF20-38373529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Operaciones Esenciales con </a:t>
            </a:r>
            <a:r>
              <a:rPr lang="es-SV" dirty="0" err="1"/>
              <a:t>List</a:t>
            </a:r>
            <a:r>
              <a:rPr lang="es-SV" dirty="0"/>
              <a:t>&lt;T&gt;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93FCA7-8DE6-4C27-AF51-4E323F51C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 err="1"/>
              <a:t>Update</a:t>
            </a:r>
            <a:endParaRPr lang="es-SV" dirty="0"/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r>
              <a:rPr lang="es-SV" dirty="0" err="1"/>
              <a:t>Delete</a:t>
            </a:r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FCD3BD-713B-45AA-8DE2-9490EF239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478" y="2548878"/>
            <a:ext cx="7677322" cy="6130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6FF5B93-19D3-4E2E-B968-F2507FB2B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478" y="4290885"/>
            <a:ext cx="7498726" cy="135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38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B349C-28D4-46DD-9E4B-DEDD4EFCF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Otros métodos comunes con </a:t>
            </a:r>
            <a:r>
              <a:rPr lang="es-SV" dirty="0" err="1"/>
              <a:t>List</a:t>
            </a:r>
            <a:r>
              <a:rPr lang="es-SV" dirty="0"/>
              <a:t>&lt;T&gt;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9B93086-0DE0-47E9-AD28-F3304F0CC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9343" y="2003071"/>
            <a:ext cx="6221033" cy="1770294"/>
          </a:xfr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B0B386F-E1A1-4C3D-9ACF-ED71D30C4634}"/>
              </a:ext>
            </a:extLst>
          </p:cNvPr>
          <p:cNvSpPr txBox="1"/>
          <p:nvPr/>
        </p:nvSpPr>
        <p:spPr>
          <a:xfrm>
            <a:off x="1178351" y="4402318"/>
            <a:ext cx="95022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de List.</a:t>
            </a:r>
          </a:p>
          <a:p>
            <a:endParaRPr lang="en-US" dirty="0"/>
          </a:p>
          <a:p>
            <a:r>
              <a:rPr lang="en-US" dirty="0" err="1"/>
              <a:t>Ejercicios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Comprobar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existe</a:t>
            </a:r>
            <a:r>
              <a:rPr lang="en-US" dirty="0"/>
              <a:t> “Coco” e </a:t>
            </a:r>
            <a:r>
              <a:rPr lang="en-US" dirty="0" err="1"/>
              <a:t>imprimir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pantalla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SV" dirty="0"/>
              <a:t>Crear una lista de números aleatorios, imprimir en pantalla, </a:t>
            </a:r>
            <a:r>
              <a:rPr lang="es-SV" dirty="0" err="1"/>
              <a:t>ordernar</a:t>
            </a:r>
            <a:r>
              <a:rPr lang="es-SV" dirty="0"/>
              <a:t> y volver a imprimir</a:t>
            </a:r>
          </a:p>
        </p:txBody>
      </p:sp>
    </p:spTree>
    <p:extLst>
      <p:ext uri="{BB962C8B-B14F-4D97-AF65-F5344CB8AC3E}">
        <p14:creationId xmlns:p14="http://schemas.microsoft.com/office/powerpoint/2010/main" val="3324261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0A974-4FE4-48EF-9122-356F6EBA9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204" y="2102178"/>
            <a:ext cx="10156596" cy="2290713"/>
          </a:xfrm>
        </p:spPr>
        <p:txBody>
          <a:bodyPr/>
          <a:lstStyle/>
          <a:p>
            <a:r>
              <a:rPr lang="es-SV" dirty="0"/>
              <a:t>Introducción a Programación </a:t>
            </a:r>
            <a:br>
              <a:rPr lang="es-SV" dirty="0"/>
            </a:br>
            <a:r>
              <a:rPr lang="es-SV" dirty="0"/>
              <a:t>Orientada a Objetos</a:t>
            </a:r>
          </a:p>
        </p:txBody>
      </p:sp>
    </p:spTree>
    <p:extLst>
      <p:ext uri="{BB962C8B-B14F-4D97-AF65-F5344CB8AC3E}">
        <p14:creationId xmlns:p14="http://schemas.microsoft.com/office/powerpoint/2010/main" val="71437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7F350-FB23-433D-85D5-5FB12AE7C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99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SV" dirty="0"/>
              <a:t>¿Qué es la Programación Orientada a Objetos (POO)?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8BF9A8-3796-46DB-BDA5-B521DAFA6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POO es un paradigma de programación que organiza el código alrededor de objetos que representan entidades del mundo real, en lugar de funciones y datos separados.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D1D72803-742C-4A42-85FD-6DF03049E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731042"/>
              </p:ext>
            </p:extLst>
          </p:nvPr>
        </p:nvGraphicFramePr>
        <p:xfrm>
          <a:off x="1781666" y="3429000"/>
          <a:ext cx="766399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4664">
                  <a:extLst>
                    <a:ext uri="{9D8B030D-6E8A-4147-A177-3AD203B41FA5}">
                      <a16:colId xmlns:a16="http://schemas.microsoft.com/office/drawing/2014/main" val="1260487597"/>
                    </a:ext>
                  </a:extLst>
                </a:gridCol>
                <a:gridCol w="2554664">
                  <a:extLst>
                    <a:ext uri="{9D8B030D-6E8A-4147-A177-3AD203B41FA5}">
                      <a16:colId xmlns:a16="http://schemas.microsoft.com/office/drawing/2014/main" val="3263992295"/>
                    </a:ext>
                  </a:extLst>
                </a:gridCol>
                <a:gridCol w="2554664">
                  <a:extLst>
                    <a:ext uri="{9D8B030D-6E8A-4147-A177-3AD203B41FA5}">
                      <a16:colId xmlns:a16="http://schemas.microsoft.com/office/drawing/2014/main" val="2580262723"/>
                    </a:ext>
                  </a:extLst>
                </a:gridCol>
              </a:tblGrid>
              <a:tr h="572873">
                <a:tc>
                  <a:txBody>
                    <a:bodyPr/>
                    <a:lstStyle/>
                    <a:p>
                      <a:r>
                        <a:rPr lang="es-SV" dirty="0"/>
                        <a:t>Procedimental (1970s)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SV" dirty="0"/>
                        <a:t>Orientada a Objetos (1980s)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SV" dirty="0"/>
                        <a:t>Moderna (2000s+)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837095"/>
                  </a:ext>
                </a:extLst>
              </a:tr>
              <a:tr h="580829">
                <a:tc>
                  <a:txBody>
                    <a:bodyPr/>
                    <a:lstStyle/>
                    <a:p>
                      <a:r>
                        <a:rPr lang="es-SV" dirty="0"/>
                        <a:t>Funciones y datos separados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SV" dirty="0"/>
                        <a:t>Objetos con datos y comportamiento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SV" dirty="0"/>
                        <a:t>Frameworks y patrones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238995"/>
                  </a:ext>
                </a:extLst>
              </a:tr>
              <a:tr h="580829">
                <a:tc>
                  <a:txBody>
                    <a:bodyPr/>
                    <a:lstStyle/>
                    <a:p>
                      <a:r>
                        <a:rPr lang="es-SV" dirty="0"/>
                        <a:t>Difícil de mantener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SV" dirty="0"/>
                        <a:t>Más natural para humanos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SV" dirty="0"/>
                        <a:t>Reutilización masiva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071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408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EBEB9-C1A1-483E-AFA9-BE78FF6E2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Programación Orientada a Objetos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E2BFEE-E2BF-4FF0-ABDB-D128EE25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Los 4 Pilares de POO:</a:t>
            </a:r>
          </a:p>
          <a:p>
            <a:pPr marL="0" indent="0">
              <a:buNone/>
            </a:pPr>
            <a:endParaRPr lang="es-SV" dirty="0"/>
          </a:p>
          <a:p>
            <a:pPr algn="l">
              <a:buFont typeface="+mj-lt"/>
              <a:buAutoNum type="arabicPeriod"/>
            </a:pP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Encapsulamiento: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Ocultar detalles internos</a:t>
            </a:r>
          </a:p>
          <a:p>
            <a:pPr algn="l">
              <a:buFont typeface="+mj-lt"/>
              <a:buAutoNum type="arabicPeriod"/>
            </a:pP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Abstracción: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Mostrar solo lo esencial</a:t>
            </a:r>
          </a:p>
          <a:p>
            <a:pPr algn="l">
              <a:buFont typeface="+mj-lt"/>
              <a:buAutoNum type="arabicPeriod"/>
            </a:pP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Herencia: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Reutilizar y extender funcionalidad</a:t>
            </a:r>
          </a:p>
          <a:p>
            <a:pPr algn="l">
              <a:buFont typeface="+mj-lt"/>
              <a:buAutoNum type="arabicPeriod"/>
            </a:pP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Polimorfismo: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Mismo interfaz, diferentes comportamientos</a:t>
            </a:r>
          </a:p>
          <a:p>
            <a:pPr marL="0" indent="0">
              <a:buNone/>
            </a:pPr>
            <a:endParaRPr lang="es-SV" dirty="0"/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503569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2262A-018C-4779-BC3B-A3FC6B0ED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Programación Orientada a Objetos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C7EA9B-3D65-4530-A8B2-7FFC8F866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dirty="0"/>
              <a:t>Analogía</a:t>
            </a:r>
          </a:p>
          <a:p>
            <a:pPr marL="0" indent="0">
              <a:buNone/>
            </a:pPr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D96443A-8930-42EA-B40F-997E3E958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509" y="2577513"/>
            <a:ext cx="7924162" cy="359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07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04EF9-723A-4194-9037-8695A3A4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Clase vs Objeto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613AB5-DE2A-4DFB-B4AC-DA589689F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Una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clase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es una plantilla o molde que define la estructura y comportamiento de los objetos.</a:t>
            </a:r>
          </a:p>
          <a:p>
            <a:pPr marL="0" indent="0">
              <a:buNone/>
            </a:pPr>
            <a:endParaRPr lang="es-SV" dirty="0">
              <a:solidFill>
                <a:srgbClr val="0F1115"/>
              </a:solidFill>
              <a:latin typeface="quote-cjk-patch"/>
            </a:endParaRPr>
          </a:p>
          <a:p>
            <a:pPr marL="0" indent="0">
              <a:buNone/>
            </a:pPr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9F4357-BCBD-4CDE-B5C0-5D132A2D4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17" y="2627642"/>
            <a:ext cx="4507614" cy="277391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B14595-1B7F-45FC-83C1-408974B77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072" y="2363057"/>
            <a:ext cx="5539608" cy="37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83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6AA66-7E61-4FC4-ABB6-EA0B70A19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Objeto (</a:t>
            </a:r>
            <a:r>
              <a:rPr lang="es-SV" dirty="0" err="1"/>
              <a:t>Object</a:t>
            </a:r>
            <a:r>
              <a:rPr lang="es-SV" dirty="0"/>
              <a:t>/</a:t>
            </a:r>
            <a:r>
              <a:rPr lang="es-SV" dirty="0" err="1"/>
              <a:t>Instance</a:t>
            </a:r>
            <a:r>
              <a:rPr lang="es-SV" dirty="0"/>
              <a:t>) - La Instancia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77F131-D7BC-4C61-AEFA-9BCC2F133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Un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objeto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es una instancia concreta creada a partir de una clase.</a:t>
            </a:r>
          </a:p>
          <a:p>
            <a:pPr marL="0" indent="0">
              <a:buNone/>
            </a:pPr>
            <a:r>
              <a:rPr lang="es-SV" dirty="0">
                <a:solidFill>
                  <a:srgbClr val="0F1115"/>
                </a:solidFill>
                <a:latin typeface="quote-cjk-patch"/>
              </a:rPr>
              <a:t>Las clases se instancian con el operador “new”</a:t>
            </a:r>
          </a:p>
          <a:p>
            <a:pPr marL="0" indent="0">
              <a:buNone/>
            </a:pPr>
            <a:endParaRPr lang="es-SV" dirty="0">
              <a:solidFill>
                <a:srgbClr val="0F1115"/>
              </a:solidFill>
              <a:latin typeface="quote-cjk-patch"/>
            </a:endParaRPr>
          </a:p>
          <a:p>
            <a:pPr marL="0" indent="0">
              <a:buNone/>
            </a:pPr>
            <a:r>
              <a:rPr lang="es-SV" dirty="0">
                <a:solidFill>
                  <a:srgbClr val="0F1115"/>
                </a:solidFill>
                <a:latin typeface="quote-cjk-patch"/>
              </a:rPr>
              <a:t>Sintaxis</a:t>
            </a:r>
          </a:p>
          <a:p>
            <a:pPr marL="0" indent="0">
              <a:buNone/>
            </a:pPr>
            <a:r>
              <a:rPr lang="es-SV" dirty="0">
                <a:solidFill>
                  <a:srgbClr val="0F1115"/>
                </a:solidFill>
                <a:latin typeface="quote-cjk-patch"/>
              </a:rPr>
              <a:t>Clase [Nombre Objeto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] = New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Clase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();</a:t>
            </a:r>
            <a:endParaRPr lang="es-SV" dirty="0">
              <a:solidFill>
                <a:srgbClr val="0F1115"/>
              </a:solidFill>
              <a:latin typeface="quote-cjk-patch"/>
            </a:endParaRPr>
          </a:p>
          <a:p>
            <a:pPr marL="0" indent="0">
              <a:buNone/>
            </a:pPr>
            <a:endParaRPr lang="es-SV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B13ACE-8DD2-4E1A-92AA-D3C0CF1A5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218" y="4136028"/>
            <a:ext cx="6918171" cy="161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92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2BBF7-52CC-4616-93F0-64C046471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Objeto (</a:t>
            </a:r>
            <a:r>
              <a:rPr lang="es-SV" dirty="0" err="1"/>
              <a:t>Object</a:t>
            </a:r>
            <a:r>
              <a:rPr lang="es-SV" dirty="0"/>
              <a:t>/</a:t>
            </a:r>
            <a:r>
              <a:rPr lang="es-SV" dirty="0" err="1"/>
              <a:t>Instance</a:t>
            </a:r>
            <a:r>
              <a:rPr lang="es-SV" dirty="0"/>
              <a:t>) - La Instancia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BF5022-DBA1-497F-A905-CA6CF140A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1666"/>
            <a:ext cx="10515600" cy="4395297"/>
          </a:xfrm>
        </p:spPr>
        <p:txBody>
          <a:bodyPr/>
          <a:lstStyle/>
          <a:p>
            <a:r>
              <a:rPr lang="es-SV" dirty="0"/>
              <a:t>Acceder o asignar valores a los atributos de un objeto</a:t>
            </a:r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r>
              <a:rPr lang="es-SV" dirty="0"/>
              <a:t>Acceder a los métodos de un objeto</a:t>
            </a:r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C6ECC8-DCE5-4336-90C3-50CB8EBB2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394" y="2365101"/>
            <a:ext cx="4578470" cy="186753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60123D-0500-44F6-9C00-9D824EF46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089" y="4963887"/>
            <a:ext cx="5947080" cy="125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64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61146-83B8-449B-90F6-A393D020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El Constructor de un objeto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5E61F8-ACA8-4B50-A299-F0017B69E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82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s-SV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Método especial que se ejecuta automáticamente al crear un objeto. Su propósito es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inicializar el estado del objeto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. Es un método que tendrá el mismo nombre de la clase. </a:t>
            </a:r>
          </a:p>
          <a:p>
            <a:pPr marL="0" indent="0">
              <a:buNone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Si no se define un constructor en la clase el objeto se crea con sus propiedades vacías.</a:t>
            </a:r>
          </a:p>
          <a:p>
            <a:pPr marL="0" indent="0">
              <a:buNone/>
            </a:pPr>
            <a:endParaRPr lang="es-SV" dirty="0">
              <a:solidFill>
                <a:srgbClr val="0F1115"/>
              </a:solidFill>
              <a:latin typeface="quote-cjk-patch"/>
            </a:endParaRPr>
          </a:p>
          <a:p>
            <a:pPr marL="0" indent="0">
              <a:buNone/>
            </a:pPr>
            <a:r>
              <a:rPr lang="es-SV" dirty="0">
                <a:solidFill>
                  <a:srgbClr val="0F1115"/>
                </a:solidFill>
                <a:latin typeface="quote-cjk-patch"/>
              </a:rPr>
              <a:t>Ejercicios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Crea un método llamado "</a:t>
            </a:r>
            <a:r>
              <a:rPr lang="es-SV" dirty="0" err="1"/>
              <a:t>ObtenerTitulo</a:t>
            </a:r>
            <a:r>
              <a:rPr lang="es-SV" dirty="0"/>
              <a:t>()" que retorne el título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Crea un método llamado "</a:t>
            </a:r>
            <a:r>
              <a:rPr lang="es-SV" dirty="0" err="1"/>
              <a:t>ActualizarCalificacion</a:t>
            </a:r>
            <a:r>
              <a:rPr lang="es-SV" dirty="0"/>
              <a:t>(</a:t>
            </a:r>
            <a:r>
              <a:rPr lang="es-SV" dirty="0" err="1"/>
              <a:t>double</a:t>
            </a:r>
            <a:r>
              <a:rPr lang="es-SV" dirty="0"/>
              <a:t> nueva)" 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Crea un atributo nueva "genero" (</a:t>
            </a:r>
            <a:r>
              <a:rPr lang="es-SV" dirty="0" err="1"/>
              <a:t>string</a:t>
            </a:r>
            <a:r>
              <a:rPr lang="es-SV" dirty="0"/>
              <a:t>) 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Crea un método "</a:t>
            </a:r>
            <a:r>
              <a:rPr lang="es-SV" dirty="0" err="1"/>
              <a:t>JuegoAntiguo</a:t>
            </a:r>
            <a:r>
              <a:rPr lang="es-SV" dirty="0"/>
              <a:t>()" que retorne true </a:t>
            </a:r>
          </a:p>
          <a:p>
            <a:pPr marL="457200" indent="-457200">
              <a:buFont typeface="+mj-lt"/>
              <a:buAutoNum type="arabicPeriod"/>
            </a:pPr>
            <a:r>
              <a:rPr lang="es-SV" dirty="0"/>
              <a:t>Agrega tu propio atributo y método (opcional - sé creativo!)</a:t>
            </a:r>
          </a:p>
        </p:txBody>
      </p:sp>
    </p:spTree>
    <p:extLst>
      <p:ext uri="{BB962C8B-B14F-4D97-AF65-F5344CB8AC3E}">
        <p14:creationId xmlns:p14="http://schemas.microsoft.com/office/powerpoint/2010/main" val="232487308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347DCB393C534F9161A6E8941C3DD8" ma:contentTypeVersion="3" ma:contentTypeDescription="Crear nuevo documento." ma:contentTypeScope="" ma:versionID="61512e65a39c8587e39d98605cbaa544">
  <xsd:schema xmlns:xsd="http://www.w3.org/2001/XMLSchema" xmlns:xs="http://www.w3.org/2001/XMLSchema" xmlns:p="http://schemas.microsoft.com/office/2006/metadata/properties" xmlns:ns2="e117c542-0ee9-44bb-82f0-7089e9925f89" targetNamespace="http://schemas.microsoft.com/office/2006/metadata/properties" ma:root="true" ma:fieldsID="26971e7a51303c9b4ea934ce6bd8c03c" ns2:_="">
    <xsd:import namespace="e117c542-0ee9-44bb-82f0-7089e9925f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17c542-0ee9-44bb-82f0-7089e9925f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E6B9E8-FAA5-4BA0-BE8B-290FA6DE3EA9}"/>
</file>

<file path=customXml/itemProps2.xml><?xml version="1.0" encoding="utf-8"?>
<ds:datastoreItem xmlns:ds="http://schemas.openxmlformats.org/officeDocument/2006/customXml" ds:itemID="{22EB3FA8-4E64-4DB1-B9EC-92550231F636}"/>
</file>

<file path=customXml/itemProps3.xml><?xml version="1.0" encoding="utf-8"?>
<ds:datastoreItem xmlns:ds="http://schemas.openxmlformats.org/officeDocument/2006/customXml" ds:itemID="{CEB6489D-49F7-434C-B792-DDA93C9E623D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248</TotalTime>
  <Words>1139</Words>
  <Application>Microsoft Office PowerPoint</Application>
  <PresentationFormat>Panorámica</PresentationFormat>
  <Paragraphs>177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quote-cjk-patch</vt:lpstr>
      <vt:lpstr>Retrospección</vt:lpstr>
      <vt:lpstr>Especialización III: Lenguaje de Programación</vt:lpstr>
      <vt:lpstr>Fundamentos Integrados de C#  Métodos, Estructuras y POO Básica</vt:lpstr>
      <vt:lpstr>Métodos en C#: Modularización del Código</vt:lpstr>
      <vt:lpstr>Ejemplo de Método</vt:lpstr>
      <vt:lpstr>Modificadores de Acceso</vt:lpstr>
      <vt:lpstr>Tipo de retorno</vt:lpstr>
      <vt:lpstr>Ejemplo de definición parámetros de entrada</vt:lpstr>
      <vt:lpstr>Ejemplo definición cuerpo del Método</vt:lpstr>
      <vt:lpstr>Ejercicio</vt:lpstr>
      <vt:lpstr>Estructuras de Datos</vt:lpstr>
      <vt:lpstr>Tipos de Colecciones en C#</vt:lpstr>
      <vt:lpstr>Tipos de Colecciones en C#</vt:lpstr>
      <vt:lpstr>List&lt;T&gt; - La Lista Dinámica</vt:lpstr>
      <vt:lpstr>List&lt;T&gt; - La Lista Dinámica</vt:lpstr>
      <vt:lpstr>Operaciones Esenciales con List&lt;T&gt;</vt:lpstr>
      <vt:lpstr>Operaciones Esenciales con List&lt;T&gt;</vt:lpstr>
      <vt:lpstr>Otros métodos comunes con List&lt;T&gt;</vt:lpstr>
      <vt:lpstr>Introducción a Programación  Orientada a Objetos</vt:lpstr>
      <vt:lpstr>¿Qué es la Programación Orientada a Objetos (POO)?</vt:lpstr>
      <vt:lpstr>Programación Orientada a Objetos</vt:lpstr>
      <vt:lpstr>Programación Orientada a Objetos</vt:lpstr>
      <vt:lpstr>Clase vs Objeto</vt:lpstr>
      <vt:lpstr>Objeto (Object/Instance) - La Instancia</vt:lpstr>
      <vt:lpstr>Objeto (Object/Instance) - La Instancia</vt:lpstr>
      <vt:lpstr>El Constructor de un objeto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Especialización III: Lenguaje de Programación</dc:title>
  <dc:creator>Cesar Palacios</dc:creator>
  <cp:lastModifiedBy>Cesar Palacios</cp:lastModifiedBy>
  <cp:revision>9</cp:revision>
  <dcterms:created xsi:type="dcterms:W3CDTF">2026-02-09T07:05:31Z</dcterms:created>
  <dcterms:modified xsi:type="dcterms:W3CDTF">2026-02-10T01:36:37Z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0x010100EE347DCB393C534F9161A6E8941C3DD8</vt:lpwstr>
  </property>
</Properties>
</file>