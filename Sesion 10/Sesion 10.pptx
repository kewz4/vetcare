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0864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279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8262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1837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4688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8144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9575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2414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s-SV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885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5739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618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9047B05-55BA-4212-B67A-2992CAEE88AA}" type="datetimeFigureOut">
              <a:rPr lang="es-SV" smtClean="0"/>
              <a:t>13/4/2026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C1DA1DD-4F4D-4D3A-9068-C61294FD6971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49541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capalacios@monicaherrera.edu.s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85F86-9322-4D9F-85E4-F71F0FCD04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E84C41-FE2F-4065-89B3-230B8303D0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65526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C7FEF-185A-4975-8743-CFEA9623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Revisión temas</a:t>
            </a:r>
            <a:br>
              <a:rPr lang="es-SV" dirty="0"/>
            </a:br>
            <a:r>
              <a:rPr lang="es-SV" dirty="0"/>
              <a:t>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F651B5-F33A-4707-8049-F2601CB9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Revisión de temas por grupo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Enviar por correo </a:t>
            </a:r>
            <a:r>
              <a:rPr lang="es-SV" dirty="0">
                <a:hlinkClick r:id="rId2"/>
              </a:rPr>
              <a:t>capalacios@monicaherrera.edu.sv</a:t>
            </a:r>
            <a:r>
              <a:rPr lang="es-SV" dirty="0"/>
              <a:t> la información siguiente:</a:t>
            </a:r>
          </a:p>
          <a:p>
            <a:r>
              <a:rPr lang="es-SV" dirty="0"/>
              <a:t>Lista de integrantes del grupo.</a:t>
            </a:r>
          </a:p>
          <a:p>
            <a:r>
              <a:rPr lang="es-SV" dirty="0"/>
              <a:t>Proyecto  0 Nombre de Aplicación.</a:t>
            </a:r>
          </a:p>
          <a:p>
            <a:r>
              <a:rPr lang="es-SV" dirty="0"/>
              <a:t>Descripción completa o por módulos si se definirá de esta forma.</a:t>
            </a:r>
          </a:p>
          <a:p>
            <a:r>
              <a:rPr lang="es-SV" dirty="0"/>
              <a:t>Alcance.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18914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D3322-D7CC-4318-A252-ED684320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Métodos Esenciales para Consultar Datos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A424E3-B085-4B84-8BF4-6722003F8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Where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/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Filtrar elementos que cumplen una condición</a:t>
            </a:r>
          </a:p>
          <a:p>
            <a:pPr lvl="1"/>
            <a:endParaRPr lang="es-SV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es-SV" dirty="0"/>
              <a:t>Sintaxis</a:t>
            </a:r>
          </a:p>
          <a:p>
            <a:pPr marL="0" indent="0" algn="ctr">
              <a:buNone/>
            </a:pPr>
            <a:r>
              <a:rPr lang="es-SV" dirty="0" err="1"/>
              <a:t>coleccion.Where</a:t>
            </a:r>
            <a:r>
              <a:rPr lang="es-SV" dirty="0"/>
              <a:t>(elemento =&gt; condición)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Select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/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Transformar/Proyectar elementos</a:t>
            </a:r>
          </a:p>
          <a:p>
            <a:pPr marL="0" indent="0">
              <a:buNone/>
            </a:pPr>
            <a:br>
              <a:rPr lang="es-SV" dirty="0"/>
            </a:br>
            <a:r>
              <a:rPr lang="es-SV" dirty="0"/>
              <a:t>Sintaxis</a:t>
            </a:r>
          </a:p>
          <a:p>
            <a:pPr marL="0" indent="0" algn="ctr">
              <a:buNone/>
            </a:pPr>
            <a:r>
              <a:rPr lang="es-SV" dirty="0" err="1"/>
              <a:t>coleccion.Select</a:t>
            </a:r>
            <a:r>
              <a:rPr lang="es-SV" dirty="0"/>
              <a:t>(elemento =&gt; </a:t>
            </a:r>
            <a:r>
              <a:rPr lang="es-SV" dirty="0" err="1"/>
              <a:t>nuevaForma</a:t>
            </a:r>
            <a:r>
              <a:rPr lang="es-SV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274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35CC5-302A-434C-BF8F-D02FAF3D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Métodos Esenciales para Consultar Datos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13E0A6-9178-4069-B413-6BB020A43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OrderBy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 /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OrderByDescending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/>
            <a:r>
              <a:rPr lang="pt-BR" b="1" dirty="0">
                <a:solidFill>
                  <a:srgbClr val="0F1115"/>
                </a:solidFill>
                <a:effectLst/>
                <a:latin typeface="quote-cjk-patch"/>
              </a:rPr>
              <a:t>Ordenar elementos ascendente o descendentemente</a:t>
            </a:r>
          </a:p>
          <a:p>
            <a:pPr marL="0" indent="0">
              <a:buNone/>
            </a:pPr>
            <a:r>
              <a:rPr lang="es-SV" dirty="0"/>
              <a:t>Sintaxis</a:t>
            </a:r>
          </a:p>
          <a:p>
            <a:pPr marL="457200" lvl="1" indent="0">
              <a:buNone/>
            </a:pPr>
            <a:r>
              <a:rPr lang="es-SV" dirty="0" err="1"/>
              <a:t>coleccion.OrderBy</a:t>
            </a:r>
            <a:r>
              <a:rPr lang="es-SV" dirty="0"/>
              <a:t>(elemento =&gt; criterio)</a:t>
            </a:r>
          </a:p>
          <a:p>
            <a:pPr marL="457200" lvl="1" indent="0">
              <a:buNone/>
            </a:pPr>
            <a:r>
              <a:rPr lang="es-SV" dirty="0" err="1"/>
              <a:t>coleccion.OrderByDescending</a:t>
            </a:r>
            <a:r>
              <a:rPr lang="es-SV" dirty="0"/>
              <a:t>(elemento =&gt; criterio)</a:t>
            </a:r>
          </a:p>
          <a:p>
            <a:pPr marL="457200" lvl="1" indent="0">
              <a:buNone/>
            </a:pPr>
            <a:endParaRPr lang="es-SV" dirty="0"/>
          </a:p>
          <a:p>
            <a:pPr marL="457200" lvl="1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First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 /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FirstOrDefault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>
              <a:lnSpc>
                <a:spcPct val="100000"/>
              </a:lnSpc>
            </a:pPr>
            <a:r>
              <a:rPr lang="es-SV" b="1" dirty="0">
                <a:solidFill>
                  <a:srgbClr val="0F1115"/>
                </a:solidFill>
                <a:latin typeface="quote-cjk-patch"/>
              </a:rPr>
              <a:t>Obtener el primer elemento que cumple una </a:t>
            </a:r>
            <a:r>
              <a:rPr lang="es-SV" b="1" dirty="0" err="1">
                <a:solidFill>
                  <a:srgbClr val="0F1115"/>
                </a:solidFill>
                <a:latin typeface="quote-cjk-patch"/>
              </a:rPr>
              <a:t>condiciónSintaxis</a:t>
            </a:r>
            <a:endParaRPr lang="es-SV" b="1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dirty="0"/>
              <a:t>Sintaxis</a:t>
            </a:r>
            <a:endParaRPr lang="es-SV" dirty="0">
              <a:solidFill>
                <a:schemeClr val="accent6"/>
              </a:solidFill>
              <a:effectLst/>
              <a:latin typeface="quote-cjk-patch"/>
            </a:endParaRPr>
          </a:p>
          <a:p>
            <a:pPr marL="457200" lvl="1" indent="0">
              <a:buNone/>
            </a:pPr>
            <a:r>
              <a:rPr lang="es-SV" dirty="0" err="1">
                <a:solidFill>
                  <a:srgbClr val="0F1115"/>
                </a:solidFill>
                <a:effectLst/>
                <a:latin typeface="quote-cjk-patch"/>
              </a:rPr>
              <a:t>coleccion.First</a:t>
            </a:r>
            <a:r>
              <a:rPr lang="es-SV" dirty="0">
                <a:solidFill>
                  <a:srgbClr val="0F1115"/>
                </a:solidFill>
                <a:effectLst/>
                <a:latin typeface="quote-cjk-patch"/>
              </a:rPr>
              <a:t>()                    </a:t>
            </a:r>
            <a:r>
              <a:rPr lang="es-SV" dirty="0">
                <a:solidFill>
                  <a:schemeClr val="accent6"/>
                </a:solidFill>
                <a:effectLst/>
                <a:latin typeface="quote-cjk-patch"/>
              </a:rPr>
              <a:t>// Lanza error si no existe</a:t>
            </a:r>
          </a:p>
          <a:p>
            <a:pPr marL="457200" lvl="1" indent="0">
              <a:buNone/>
            </a:pPr>
            <a:r>
              <a:rPr lang="es-SV" dirty="0" err="1">
                <a:solidFill>
                  <a:srgbClr val="0F1115"/>
                </a:solidFill>
                <a:effectLst/>
                <a:latin typeface="quote-cjk-patch"/>
              </a:rPr>
              <a:t>coleccion.FirstOrDefault</a:t>
            </a:r>
            <a:r>
              <a:rPr lang="es-SV" dirty="0">
                <a:solidFill>
                  <a:srgbClr val="0F1115"/>
                </a:solidFill>
                <a:effectLst/>
                <a:latin typeface="quote-cjk-patch"/>
              </a:rPr>
              <a:t>()           </a:t>
            </a:r>
            <a:r>
              <a:rPr lang="es-SV" dirty="0">
                <a:solidFill>
                  <a:schemeClr val="accent6"/>
                </a:solidFill>
                <a:effectLst/>
                <a:latin typeface="quote-cjk-patch"/>
              </a:rPr>
              <a:t>// Retorna </a:t>
            </a:r>
            <a:r>
              <a:rPr lang="es-SV" dirty="0" err="1">
                <a:solidFill>
                  <a:schemeClr val="accent6"/>
                </a:solidFill>
                <a:effectLst/>
                <a:latin typeface="quote-cjk-patch"/>
              </a:rPr>
              <a:t>null</a:t>
            </a:r>
            <a:r>
              <a:rPr lang="es-SV" dirty="0">
                <a:solidFill>
                  <a:schemeClr val="accent6"/>
                </a:solidFill>
                <a:effectLst/>
                <a:latin typeface="quote-cjk-patch"/>
              </a:rPr>
              <a:t> si no existe</a:t>
            </a:r>
          </a:p>
          <a:p>
            <a:pPr marL="457200" lvl="1" indent="0">
              <a:buNone/>
            </a:pPr>
            <a:r>
              <a:rPr lang="es-SV" dirty="0" err="1">
                <a:solidFill>
                  <a:srgbClr val="0F1115"/>
                </a:solidFill>
                <a:effectLst/>
                <a:latin typeface="quote-cjk-patch"/>
              </a:rPr>
              <a:t>coleccion.First</a:t>
            </a:r>
            <a:r>
              <a:rPr lang="es-SV" dirty="0">
                <a:solidFill>
                  <a:srgbClr val="0F1115"/>
                </a:solidFill>
                <a:effectLst/>
                <a:latin typeface="quote-cjk-patch"/>
              </a:rPr>
              <a:t>(condición)           </a:t>
            </a:r>
            <a:r>
              <a:rPr lang="es-SV" dirty="0">
                <a:solidFill>
                  <a:schemeClr val="accent6"/>
                </a:solidFill>
                <a:effectLst/>
                <a:latin typeface="quote-cjk-patch"/>
              </a:rPr>
              <a:t>// Con condición</a:t>
            </a:r>
          </a:p>
          <a:p>
            <a:pPr marL="457200" lvl="1" indent="0">
              <a:buNone/>
            </a:pPr>
            <a:r>
              <a:rPr lang="es-SV" dirty="0" err="1">
                <a:solidFill>
                  <a:srgbClr val="0F1115"/>
                </a:solidFill>
                <a:effectLst/>
                <a:latin typeface="quote-cjk-patch"/>
              </a:rPr>
              <a:t>coleccion.FirstOrDefault</a:t>
            </a:r>
            <a:r>
              <a:rPr lang="es-SV" dirty="0">
                <a:solidFill>
                  <a:srgbClr val="0F1115"/>
                </a:solidFill>
                <a:effectLst/>
                <a:latin typeface="quote-cjk-patch"/>
              </a:rPr>
              <a:t>(condición)  </a:t>
            </a:r>
            <a:r>
              <a:rPr lang="es-SV" dirty="0">
                <a:solidFill>
                  <a:schemeClr val="accent6"/>
                </a:solidFill>
                <a:effectLst/>
                <a:latin typeface="quote-cjk-patch"/>
              </a:rPr>
              <a:t>// Con condición y </a:t>
            </a:r>
            <a:r>
              <a:rPr lang="es-SV" dirty="0" err="1">
                <a:solidFill>
                  <a:schemeClr val="accent6"/>
                </a:solidFill>
                <a:effectLst/>
                <a:latin typeface="quote-cjk-patch"/>
              </a:rPr>
              <a:t>null</a:t>
            </a:r>
            <a:r>
              <a:rPr lang="es-SV" dirty="0">
                <a:solidFill>
                  <a:schemeClr val="accent6"/>
                </a:solidFill>
                <a:effectLst/>
                <a:latin typeface="quote-cjk-patch"/>
              </a:rPr>
              <a:t> seguro</a:t>
            </a:r>
          </a:p>
          <a:p>
            <a:endParaRPr lang="es-SV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457200" lvl="1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34198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F166B-CAE3-4445-9A94-1B5CDBA4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Métodos Esenciales para Consultar Datos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0232E-57DA-45C6-AD06-73783D927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Take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 /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Skip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/>
            <a:r>
              <a:rPr lang="es-SV" b="1" dirty="0">
                <a:solidFill>
                  <a:srgbClr val="0F1115"/>
                </a:solidFill>
                <a:latin typeface="quote-cjk-patch"/>
              </a:rPr>
              <a:t>Paginación: tomar o saltar elementos</a:t>
            </a:r>
          </a:p>
          <a:p>
            <a:pPr marL="0" indent="0">
              <a:buNone/>
            </a:pPr>
            <a:r>
              <a:rPr lang="es-SV" dirty="0"/>
              <a:t>Sintaxis</a:t>
            </a:r>
          </a:p>
          <a:p>
            <a:pPr marL="457200" lvl="1" indent="0">
              <a:buNone/>
            </a:pPr>
            <a:r>
              <a:rPr lang="es-SV" dirty="0" err="1"/>
              <a:t>coleccion.Take</a:t>
            </a:r>
            <a:r>
              <a:rPr lang="es-SV" dirty="0"/>
              <a:t>(cantidad)    </a:t>
            </a:r>
            <a:r>
              <a:rPr lang="es-SV" dirty="0">
                <a:solidFill>
                  <a:schemeClr val="accent6"/>
                </a:solidFill>
              </a:rPr>
              <a:t>// Toma los primeros N</a:t>
            </a:r>
          </a:p>
          <a:p>
            <a:pPr marL="457200" lvl="1" indent="0">
              <a:buNone/>
            </a:pPr>
            <a:r>
              <a:rPr lang="es-SV" dirty="0" err="1"/>
              <a:t>coleccion.Skip</a:t>
            </a:r>
            <a:r>
              <a:rPr lang="es-SV" dirty="0"/>
              <a:t>(cantidad)    </a:t>
            </a:r>
            <a:r>
              <a:rPr lang="es-SV" dirty="0">
                <a:solidFill>
                  <a:schemeClr val="accent6"/>
                </a:solidFill>
              </a:rPr>
              <a:t>// Salta los primeros N</a:t>
            </a:r>
          </a:p>
          <a:p>
            <a:pPr marL="457200" lvl="1" indent="0">
              <a:buNone/>
            </a:pPr>
            <a:endParaRPr lang="es-SV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s-SV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Count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 /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Any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/>
            <a:r>
              <a:rPr lang="pt-BR" b="1" dirty="0">
                <a:solidFill>
                  <a:srgbClr val="0F1115"/>
                </a:solidFill>
                <a:latin typeface="quote-cjk-patch"/>
              </a:rPr>
              <a:t>Contar elementos o verificar </a:t>
            </a:r>
            <a:r>
              <a:rPr lang="pt-BR" b="1" dirty="0" err="1">
                <a:solidFill>
                  <a:srgbClr val="0F1115"/>
                </a:solidFill>
                <a:latin typeface="quote-cjk-patch"/>
              </a:rPr>
              <a:t>existencia</a:t>
            </a:r>
            <a:endParaRPr lang="pt-BR" b="1" dirty="0">
              <a:solidFill>
                <a:srgbClr val="0F1115"/>
              </a:solidFill>
              <a:latin typeface="quote-cjk-patch"/>
            </a:endParaRPr>
          </a:p>
          <a:p>
            <a:pPr marL="457200" lvl="1" indent="0">
              <a:lnSpc>
                <a:spcPct val="70000"/>
              </a:lnSpc>
              <a:buNone/>
            </a:pPr>
            <a:endParaRPr lang="pt-BR" sz="2100" b="1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dirty="0"/>
              <a:t>Sintaxis</a:t>
            </a:r>
          </a:p>
          <a:p>
            <a:pPr marL="457200" lvl="1" indent="0">
              <a:buNone/>
            </a:pPr>
            <a:r>
              <a:rPr lang="es-SV" dirty="0" err="1"/>
              <a:t>coleccion.Count</a:t>
            </a:r>
            <a:r>
              <a:rPr lang="es-SV" dirty="0"/>
              <a:t>()              </a:t>
            </a:r>
            <a:r>
              <a:rPr lang="es-SV" dirty="0">
                <a:solidFill>
                  <a:schemeClr val="accent6"/>
                </a:solidFill>
              </a:rPr>
              <a:t>// Cuenta todos</a:t>
            </a:r>
          </a:p>
          <a:p>
            <a:pPr marL="457200" lvl="1" indent="0">
              <a:buNone/>
            </a:pPr>
            <a:r>
              <a:rPr lang="es-SV" dirty="0" err="1"/>
              <a:t>coleccion.Count</a:t>
            </a:r>
            <a:r>
              <a:rPr lang="es-SV" dirty="0"/>
              <a:t>(condición)     </a:t>
            </a:r>
            <a:r>
              <a:rPr lang="es-SV" dirty="0">
                <a:solidFill>
                  <a:schemeClr val="accent6"/>
                </a:solidFill>
              </a:rPr>
              <a:t>// Cuenta los que cumplen</a:t>
            </a:r>
          </a:p>
          <a:p>
            <a:pPr marL="457200" lvl="1" indent="0">
              <a:buNone/>
            </a:pPr>
            <a:r>
              <a:rPr lang="es-SV" dirty="0" err="1"/>
              <a:t>coleccion.Any</a:t>
            </a:r>
            <a:r>
              <a:rPr lang="es-SV" dirty="0"/>
              <a:t>()                </a:t>
            </a:r>
            <a:r>
              <a:rPr lang="es-SV" dirty="0">
                <a:solidFill>
                  <a:schemeClr val="accent6"/>
                </a:solidFill>
              </a:rPr>
              <a:t>// ¿Hay al menos uno?</a:t>
            </a:r>
          </a:p>
          <a:p>
            <a:pPr marL="457200" lvl="1" indent="0">
              <a:buNone/>
            </a:pPr>
            <a:r>
              <a:rPr lang="es-SV" dirty="0" err="1"/>
              <a:t>coleccion.Any</a:t>
            </a:r>
            <a:r>
              <a:rPr lang="es-SV" dirty="0"/>
              <a:t>(condición)       </a:t>
            </a:r>
            <a:r>
              <a:rPr lang="es-SV" dirty="0">
                <a:solidFill>
                  <a:schemeClr val="accent6"/>
                </a:solidFill>
              </a:rPr>
              <a:t>// ¿Hay alguno que cumpla?</a:t>
            </a:r>
          </a:p>
        </p:txBody>
      </p:sp>
    </p:spTree>
    <p:extLst>
      <p:ext uri="{BB962C8B-B14F-4D97-AF65-F5344CB8AC3E}">
        <p14:creationId xmlns:p14="http://schemas.microsoft.com/office/powerpoint/2010/main" val="36213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0B3C4-4387-4814-B418-C5A36307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Métodos Esenciales para Consultar Datos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80F6A6-5AC3-4717-8791-9CF511BB5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7"/>
            <a:ext cx="7315200" cy="56875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 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GroupBy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>
              <a:lnSpc>
                <a:spcPct val="110000"/>
              </a:lnSpc>
            </a:pPr>
            <a:r>
              <a:rPr lang="es-SV" sz="2100" b="1" dirty="0">
                <a:solidFill>
                  <a:srgbClr val="0F1115"/>
                </a:solidFill>
                <a:latin typeface="quote-cjk-patch"/>
              </a:rPr>
              <a:t>Agrupar elementos por una clave</a:t>
            </a:r>
          </a:p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Sintaxis</a:t>
            </a:r>
          </a:p>
          <a:p>
            <a:pPr marL="0" indent="0">
              <a:buNone/>
            </a:pP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coleccion.GroupBy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(elemento =&gt; clave)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Método - </a:t>
            </a:r>
            <a:r>
              <a:rPr lang="es-SV" b="1" dirty="0" err="1">
                <a:solidFill>
                  <a:srgbClr val="0F1115"/>
                </a:solidFill>
                <a:effectLst/>
                <a:latin typeface="quote-cjk-patch"/>
              </a:rPr>
              <a:t>Join</a:t>
            </a: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  <a:p>
            <a:pPr lvl="1">
              <a:lnSpc>
                <a:spcPct val="110000"/>
              </a:lnSpc>
            </a:pPr>
            <a:r>
              <a:rPr lang="es-SV" sz="2100" b="1" dirty="0">
                <a:solidFill>
                  <a:srgbClr val="0F1115"/>
                </a:solidFill>
                <a:latin typeface="quote-cjk-patch"/>
              </a:rPr>
              <a:t>Combinar dos colecciones relacionadas</a:t>
            </a:r>
          </a:p>
          <a:p>
            <a:pPr marL="0" indent="0">
              <a:buNone/>
            </a:pPr>
            <a:r>
              <a:rPr lang="es-SV" dirty="0"/>
              <a:t>Sintaxis (más fácil - navegación)</a:t>
            </a:r>
          </a:p>
          <a:p>
            <a:pPr marL="0" indent="0">
              <a:buNone/>
            </a:pPr>
            <a:r>
              <a:rPr lang="es-SV" dirty="0" err="1"/>
              <a:t>coleccion.Select</a:t>
            </a:r>
            <a:r>
              <a:rPr lang="es-SV" dirty="0"/>
              <a:t>(</a:t>
            </a:r>
            <a:r>
              <a:rPr lang="es-SV" dirty="0" err="1"/>
              <a:t>item</a:t>
            </a:r>
            <a:r>
              <a:rPr lang="es-SV" dirty="0"/>
              <a:t> =&gt; </a:t>
            </a:r>
            <a:r>
              <a:rPr lang="es-SV" dirty="0" err="1"/>
              <a:t>item.Relacion.Propiedad</a:t>
            </a:r>
            <a:r>
              <a:rPr lang="es-SV" dirty="0"/>
              <a:t>)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// Sintaxis explícita</a:t>
            </a:r>
          </a:p>
          <a:p>
            <a:pPr marL="0" indent="0">
              <a:buNone/>
            </a:pPr>
            <a:r>
              <a:rPr lang="es-SV" dirty="0"/>
              <a:t>coleccion1.Join(coleccion2, </a:t>
            </a:r>
          </a:p>
          <a:p>
            <a:pPr marL="0" indent="0">
              <a:buNone/>
            </a:pPr>
            <a:r>
              <a:rPr lang="es-SV" dirty="0"/>
              <a:t>    c1 =&gt; claveExterna1, </a:t>
            </a:r>
          </a:p>
          <a:p>
            <a:pPr marL="0" indent="0">
              <a:buNone/>
            </a:pPr>
            <a:r>
              <a:rPr lang="es-SV" dirty="0"/>
              <a:t>    c2 =&gt; claveExterna2, </a:t>
            </a:r>
          </a:p>
          <a:p>
            <a:pPr marL="0" indent="0">
              <a:buNone/>
            </a:pPr>
            <a:r>
              <a:rPr lang="es-SV" dirty="0"/>
              <a:t>    (c1, c2) =&gt; resultado)</a:t>
            </a:r>
          </a:p>
        </p:txBody>
      </p:sp>
    </p:spTree>
    <p:extLst>
      <p:ext uri="{BB962C8B-B14F-4D97-AF65-F5344CB8AC3E}">
        <p14:creationId xmlns:p14="http://schemas.microsoft.com/office/powerpoint/2010/main" val="102375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A9490-CD8A-4A8C-BE5C-097D0A8F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 con </a:t>
            </a:r>
            <a:r>
              <a:rPr lang="es-SV" dirty="0" err="1"/>
              <a:t>Linq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B5E9F2-E154-4DE5-BE1E-07573DDB1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Realizar los ejercicios que se encuentran en el archivo de ejercicios.</a:t>
            </a:r>
          </a:p>
        </p:txBody>
      </p:sp>
    </p:spTree>
    <p:extLst>
      <p:ext uri="{BB962C8B-B14F-4D97-AF65-F5344CB8AC3E}">
        <p14:creationId xmlns:p14="http://schemas.microsoft.com/office/powerpoint/2010/main" val="1554118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B74C0-5CC4-4EB9-967A-49A8EC17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Utilizar </a:t>
            </a:r>
            <a:r>
              <a:rPr lang="es-SV" dirty="0" err="1"/>
              <a:t>Linq</a:t>
            </a:r>
            <a:r>
              <a:rPr lang="es-SV" dirty="0"/>
              <a:t> desde Proyecto </a:t>
            </a:r>
            <a:r>
              <a:rPr lang="es-SV" dirty="0" err="1"/>
              <a:t>.net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EAEBBC-0855-4C64-A81B-E685066E1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Revisar </a:t>
            </a:r>
            <a:r>
              <a:rPr lang="es-SV" dirty="0" err="1"/>
              <a:t>codigo</a:t>
            </a:r>
            <a:endParaRPr lang="es-SV" dirty="0"/>
          </a:p>
          <a:p>
            <a:r>
              <a:rPr lang="es-SV" dirty="0"/>
              <a:t>Verificar conexión a la base de datos:</a:t>
            </a:r>
          </a:p>
          <a:p>
            <a:pPr lvl="1"/>
            <a:r>
              <a:rPr lang="es-SV" dirty="0"/>
              <a:t>Host</a:t>
            </a:r>
          </a:p>
          <a:p>
            <a:pPr lvl="1"/>
            <a:r>
              <a:rPr lang="es-SV" dirty="0" err="1"/>
              <a:t>Db</a:t>
            </a:r>
            <a:r>
              <a:rPr lang="es-SV" dirty="0"/>
              <a:t> </a:t>
            </a:r>
            <a:r>
              <a:rPr lang="es-SV" dirty="0" err="1"/>
              <a:t>name</a:t>
            </a:r>
            <a:endParaRPr lang="es-SV" dirty="0"/>
          </a:p>
          <a:p>
            <a:pPr lvl="1"/>
            <a:r>
              <a:rPr lang="es-SV" dirty="0" err="1"/>
              <a:t>User</a:t>
            </a:r>
            <a:endParaRPr lang="es-SV" dirty="0"/>
          </a:p>
          <a:p>
            <a:pPr lvl="1"/>
            <a:r>
              <a:rPr lang="es-SV" dirty="0"/>
              <a:t>Pass</a:t>
            </a:r>
          </a:p>
          <a:p>
            <a:pPr lvl="1"/>
            <a:r>
              <a:rPr lang="es-SV" dirty="0"/>
              <a:t>Port</a:t>
            </a:r>
          </a:p>
          <a:p>
            <a:pPr lvl="1"/>
            <a:endParaRPr lang="es-SV" dirty="0"/>
          </a:p>
          <a:p>
            <a:r>
              <a:rPr lang="es-SV" dirty="0"/>
              <a:t>Validar </a:t>
            </a:r>
            <a:r>
              <a:rPr lang="es-SV" dirty="0" err="1"/>
              <a:t>Linq</a:t>
            </a:r>
            <a:r>
              <a:rPr lang="es-SV" dirty="0"/>
              <a:t> usado.</a:t>
            </a:r>
          </a:p>
          <a:p>
            <a:r>
              <a:rPr lang="es-SV" dirty="0"/>
              <a:t>Crear el CRUD para registrar materias.</a:t>
            </a:r>
          </a:p>
          <a:p>
            <a:pPr marL="0" indent="0">
              <a:buNone/>
            </a:pP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313466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6454A-B759-43F6-9679-217D813B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Comandos para ejecutar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2423A-77D9-4F7E-ABA7-41518BD61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Primer debes asegurar que en </a:t>
            </a:r>
            <a:r>
              <a:rPr lang="es-SV" dirty="0" err="1"/>
              <a:t>prompt</a:t>
            </a:r>
            <a:r>
              <a:rPr lang="es-SV" dirty="0"/>
              <a:t> te encuentras dentro de la carpeta del proyecto. Te puedes desplazar con el comando cd (</a:t>
            </a:r>
            <a:r>
              <a:rPr lang="es-SV" dirty="0" err="1"/>
              <a:t>change</a:t>
            </a:r>
            <a:r>
              <a:rPr lang="es-SV" dirty="0"/>
              <a:t> </a:t>
            </a:r>
            <a:r>
              <a:rPr lang="es-SV" dirty="0" err="1"/>
              <a:t>directory</a:t>
            </a:r>
            <a:r>
              <a:rPr lang="es-SV" dirty="0"/>
              <a:t>) y ver carpetas con el </a:t>
            </a:r>
            <a:r>
              <a:rPr lang="es-SV" dirty="0" err="1"/>
              <a:t>ls</a:t>
            </a:r>
            <a:r>
              <a:rPr lang="es-SV" dirty="0"/>
              <a:t> (</a:t>
            </a:r>
            <a:r>
              <a:rPr lang="es-SV" dirty="0" err="1"/>
              <a:t>list</a:t>
            </a:r>
            <a:r>
              <a:rPr lang="es-SV" dirty="0"/>
              <a:t>)</a:t>
            </a:r>
          </a:p>
          <a:p>
            <a:r>
              <a:rPr lang="es-SV" dirty="0" err="1"/>
              <a:t>dotnet</a:t>
            </a:r>
            <a:r>
              <a:rPr lang="es-SV" dirty="0"/>
              <a:t> </a:t>
            </a:r>
            <a:r>
              <a:rPr lang="es-SV" dirty="0" err="1"/>
              <a:t>clean</a:t>
            </a:r>
            <a:r>
              <a:rPr lang="es-SV" dirty="0"/>
              <a:t>  : Ejecuta una limpieza de compilados del proyecto</a:t>
            </a:r>
          </a:p>
          <a:p>
            <a:r>
              <a:rPr lang="es-SV" dirty="0" err="1"/>
              <a:t>dotnet</a:t>
            </a:r>
            <a:r>
              <a:rPr lang="es-SV" dirty="0"/>
              <a:t> </a:t>
            </a:r>
            <a:r>
              <a:rPr lang="es-SV" dirty="0" err="1"/>
              <a:t>build</a:t>
            </a:r>
            <a:r>
              <a:rPr lang="es-SV" dirty="0"/>
              <a:t>   : Ejecuta una compilación del proyecto, si hay errores aquí se mostraran en la consola</a:t>
            </a:r>
          </a:p>
          <a:p>
            <a:r>
              <a:rPr lang="es-SV" dirty="0" err="1"/>
              <a:t>dotnet</a:t>
            </a:r>
            <a:r>
              <a:rPr lang="es-SV" dirty="0"/>
              <a:t> run  : Ejecuta los binarios compilados, por ser una aplicación web en la consola mostrara el mensaje de que </a:t>
            </a:r>
            <a:r>
              <a:rPr lang="es-SV" dirty="0" err="1"/>
              <a:t>url</a:t>
            </a:r>
            <a:r>
              <a:rPr lang="es-SV" dirty="0"/>
              <a:t> (normalmente en </a:t>
            </a:r>
            <a:r>
              <a:rPr lang="es-SV" dirty="0">
                <a:hlinkClick r:id="rId2"/>
              </a:rPr>
              <a:t>http://localhost</a:t>
            </a:r>
            <a:r>
              <a:rPr lang="es-SV" dirty="0"/>
              <a:t>) y en que puerto se encuentra corriendo la aplicación, debes copiarlo o escribirlo en la barra del navegador</a:t>
            </a:r>
          </a:p>
        </p:txBody>
      </p:sp>
    </p:spTree>
    <p:extLst>
      <p:ext uri="{BB962C8B-B14F-4D97-AF65-F5344CB8AC3E}">
        <p14:creationId xmlns:p14="http://schemas.microsoft.com/office/powerpoint/2010/main" val="188406040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193109-26DE-47FF-B7B8-CE29D002A543}"/>
</file>

<file path=customXml/itemProps2.xml><?xml version="1.0" encoding="utf-8"?>
<ds:datastoreItem xmlns:ds="http://schemas.openxmlformats.org/officeDocument/2006/customXml" ds:itemID="{CA22BB87-A22F-4123-8588-9636FDFDD0EB}"/>
</file>

<file path=customXml/itemProps3.xml><?xml version="1.0" encoding="utf-8"?>
<ds:datastoreItem xmlns:ds="http://schemas.openxmlformats.org/officeDocument/2006/customXml" ds:itemID="{5841C48C-B5B7-4629-8E9C-B1BCADDFE5C9}"/>
</file>

<file path=docProps/app.xml><?xml version="1.0" encoding="utf-8"?>
<Properties xmlns="http://schemas.openxmlformats.org/officeDocument/2006/extended-properties" xmlns:vt="http://schemas.openxmlformats.org/officeDocument/2006/docPropsVTypes">
  <Template>Marco</Template>
  <TotalTime>74</TotalTime>
  <Words>529</Words>
  <Application>Microsoft Office PowerPoint</Application>
  <PresentationFormat>Panorámica</PresentationFormat>
  <Paragraphs>87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Corbel</vt:lpstr>
      <vt:lpstr>quote-cjk-patch</vt:lpstr>
      <vt:lpstr>Wingdings 2</vt:lpstr>
      <vt:lpstr>Marco</vt:lpstr>
      <vt:lpstr>Especialización III: Lenguaje de Programación</vt:lpstr>
      <vt:lpstr>Revisión temas Proyecto</vt:lpstr>
      <vt:lpstr>Métodos Esenciales para Consultar Datos</vt:lpstr>
      <vt:lpstr>Métodos Esenciales para Consultar Datos</vt:lpstr>
      <vt:lpstr>Métodos Esenciales para Consultar Datos</vt:lpstr>
      <vt:lpstr>Métodos Esenciales para Consultar Datos</vt:lpstr>
      <vt:lpstr>Ejercicio con Linq</vt:lpstr>
      <vt:lpstr>Utilizar Linq desde Proyecto .net</vt:lpstr>
      <vt:lpstr>Comandos para ejecutar Proyecto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4</cp:revision>
  <dcterms:created xsi:type="dcterms:W3CDTF">2026-04-13T22:39:41Z</dcterms:created>
  <dcterms:modified xsi:type="dcterms:W3CDTF">2026-04-14T01:31:28Z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