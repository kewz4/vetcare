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1.xml" ContentType="application/vnd.openxmlformats-officedocument.theme+xml"/>
  <Override PartName="/ppt/viewProps.xml" ContentType="application/vnd.openxmlformats-officedocument.presentationml.viewProps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60" r:id="rId4"/>
    <p:sldId id="258" r:id="rId5"/>
    <p:sldId id="261" r:id="rId6"/>
    <p:sldId id="259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1" d="100"/>
          <a:sy n="81" d="100"/>
        </p:scale>
        <p:origin x="725" y="53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17" Type="http://schemas.openxmlformats.org/officeDocument/2006/relationships/customXml" Target="../customXml/item3.xml"/><Relationship Id="rId2" Type="http://schemas.openxmlformats.org/officeDocument/2006/relationships/slide" Target="slides/slide1.xml"/><Relationship Id="rId16" Type="http://schemas.openxmlformats.org/officeDocument/2006/relationships/customXml" Target="../customXml/item2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customXml" Target="../customXml/item1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589213" y="2514600"/>
            <a:ext cx="8915399" cy="2262781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589213" y="4777379"/>
            <a:ext cx="8915399" cy="1126283"/>
          </a:xfrm>
        </p:spPr>
        <p:txBody>
          <a:bodyPr anchor="t"/>
          <a:lstStyle>
            <a:lvl1pPr marL="0" indent="0" algn="l">
              <a:buNone/>
              <a:defRPr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Freeform 6"/>
          <p:cNvSpPr/>
          <p:nvPr/>
        </p:nvSpPr>
        <p:spPr bwMode="auto">
          <a:xfrm>
            <a:off x="0" y="4323810"/>
            <a:ext cx="1744652" cy="778589"/>
          </a:xfrm>
          <a:custGeom>
            <a:avLst/>
            <a:gdLst/>
            <a:ahLst/>
            <a:cxnLst/>
            <a:rect l="0" t="0" r="r" b="b"/>
            <a:pathLst>
              <a:path w="372" h="166">
                <a:moveTo>
                  <a:pt x="287" y="166"/>
                </a:moveTo>
                <a:cubicBezTo>
                  <a:pt x="290" y="166"/>
                  <a:pt x="292" y="165"/>
                  <a:pt x="293" y="164"/>
                </a:cubicBezTo>
                <a:cubicBezTo>
                  <a:pt x="293" y="163"/>
                  <a:pt x="294" y="163"/>
                  <a:pt x="294" y="163"/>
                </a:cubicBezTo>
                <a:cubicBezTo>
                  <a:pt x="370" y="87"/>
                  <a:pt x="370" y="87"/>
                  <a:pt x="370" y="87"/>
                </a:cubicBezTo>
                <a:cubicBezTo>
                  <a:pt x="372" y="85"/>
                  <a:pt x="372" y="81"/>
                  <a:pt x="370" y="78"/>
                </a:cubicBezTo>
                <a:cubicBezTo>
                  <a:pt x="294" y="3"/>
                  <a:pt x="294" y="3"/>
                  <a:pt x="294" y="3"/>
                </a:cubicBezTo>
                <a:cubicBezTo>
                  <a:pt x="294" y="2"/>
                  <a:pt x="293" y="2"/>
                  <a:pt x="293" y="2"/>
                </a:cubicBezTo>
                <a:cubicBezTo>
                  <a:pt x="292" y="1"/>
                  <a:pt x="290" y="0"/>
                  <a:pt x="287" y="0"/>
                </a:cubicBezTo>
                <a:cubicBezTo>
                  <a:pt x="0" y="0"/>
                  <a:pt x="0" y="0"/>
                  <a:pt x="0" y="0"/>
                </a:cubicBezTo>
                <a:cubicBezTo>
                  <a:pt x="0" y="166"/>
                  <a:pt x="0" y="166"/>
                  <a:pt x="0" y="166"/>
                </a:cubicBezTo>
                <a:lnTo>
                  <a:pt x="287" y="166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4529540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1500898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92925" y="624110"/>
            <a:ext cx="8911687" cy="128089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589212" y="2133600"/>
            <a:ext cx="8915400" cy="377762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26329392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2058750"/>
            <a:ext cx="8915399" cy="146880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3530129"/>
            <a:ext cx="8915399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02993140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2589212" y="2133600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7190747" y="2126222"/>
            <a:ext cx="4313864" cy="3777622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0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1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5389317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939373" y="1972703"/>
            <a:ext cx="3992732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2589212" y="2548966"/>
            <a:ext cx="4342893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7506629" y="1969475"/>
            <a:ext cx="399900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7166957" y="2545738"/>
            <a:ext cx="4338674" cy="3354060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2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13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787782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95010978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7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9911206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6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1664494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446088"/>
            <a:ext cx="3505199" cy="976312"/>
          </a:xfrm>
        </p:spPr>
        <p:txBody>
          <a:bodyPr anchor="b"/>
          <a:lstStyle>
            <a:lvl1pPr algn="l">
              <a:defRPr sz="20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323012" y="446088"/>
            <a:ext cx="5181600" cy="5414963"/>
          </a:xfrm>
        </p:spPr>
        <p:txBody>
          <a:bodyPr anchor="ctr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2" y="1598613"/>
            <a:ext cx="3505199" cy="426243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46057818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4800600"/>
            <a:ext cx="8915400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589212" y="634965"/>
            <a:ext cx="8915400" cy="3854970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367338"/>
            <a:ext cx="8915400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28074584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09600"/>
            <a:ext cx="8915399" cy="311704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46426402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1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3275012" y="3505200"/>
            <a:ext cx="753655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4354046"/>
            <a:ext cx="8915399" cy="1555864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31781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531812" y="3244139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  <p:sp>
        <p:nvSpPr>
          <p:cNvPr id="14" name="TextBox 13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149974071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3" y="2438400"/>
            <a:ext cx="8915400" cy="2724845"/>
          </a:xfrm>
        </p:spPr>
        <p:txBody>
          <a:bodyPr anchor="b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14653113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Title 1"/>
          <p:cNvSpPr>
            <a:spLocks noGrp="1"/>
          </p:cNvSpPr>
          <p:nvPr>
            <p:ph type="title"/>
          </p:nvPr>
        </p:nvSpPr>
        <p:spPr>
          <a:xfrm>
            <a:off x="2849949" y="609600"/>
            <a:ext cx="8393926" cy="2895600"/>
          </a:xfrm>
        </p:spPr>
        <p:txBody>
          <a:bodyPr anchor="ctr">
            <a:normAutofit/>
          </a:bodyPr>
          <a:lstStyle>
            <a:lvl1pPr algn="l">
              <a:defRPr sz="48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11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  <p:sp>
        <p:nvSpPr>
          <p:cNvPr id="17" name="TextBox 16"/>
          <p:cNvSpPr txBox="1"/>
          <p:nvPr/>
        </p:nvSpPr>
        <p:spPr>
          <a:xfrm>
            <a:off x="2467652" y="648005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1114852" y="290530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/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3090121650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89212" y="627407"/>
            <a:ext cx="8915399" cy="2880020"/>
          </a:xfrm>
        </p:spPr>
        <p:txBody>
          <a:bodyPr anchor="ctr">
            <a:normAutofit/>
          </a:bodyPr>
          <a:lstStyle>
            <a:lvl1pPr algn="l">
              <a:defRPr sz="48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1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589212" y="4343400"/>
            <a:ext cx="8915400" cy="838200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589213" y="5181600"/>
            <a:ext cx="8915400" cy="729622"/>
          </a:xfrm>
        </p:spPr>
        <p:txBody>
          <a:bodyPr vert="horz" lIns="91440" tIns="45720" rIns="91440" bIns="45720" rtlCol="0" anchor="t">
            <a:normAutofit/>
          </a:bodyPr>
          <a:lstStyle>
            <a:lvl1pPr>
              <a:buNone/>
              <a:defRPr lang="en-US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</a:lstStyle>
          <a:p>
            <a:pPr marL="0" lvl="0" indent="0">
              <a:buNone/>
            </a:pPr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9" name="Freeform 11"/>
          <p:cNvSpPr/>
          <p:nvPr/>
        </p:nvSpPr>
        <p:spPr bwMode="auto">
          <a:xfrm flipV="1">
            <a:off x="-4189" y="491172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531812" y="4983087"/>
            <a:ext cx="779767" cy="365125"/>
          </a:xfrm>
        </p:spPr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1568106234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6219257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4812" y="627405"/>
            <a:ext cx="2207601" cy="5283817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2589212" y="627405"/>
            <a:ext cx="6477000" cy="5283817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SV"/>
          </a:p>
        </p:txBody>
      </p:sp>
      <p:sp>
        <p:nvSpPr>
          <p:cNvPr id="8" name="Freeform 11"/>
          <p:cNvSpPr/>
          <p:nvPr/>
        </p:nvSpPr>
        <p:spPr bwMode="auto">
          <a:xfrm flipV="1">
            <a:off x="-4189" y="714375"/>
            <a:ext cx="1588527" cy="507297"/>
          </a:xfrm>
          <a:custGeom>
            <a:avLst/>
            <a:gdLst/>
            <a:ahLst/>
            <a:cxnLst/>
            <a:rect l="l" t="t" r="r" b="b"/>
            <a:pathLst>
              <a:path w="9248" h="10000">
                <a:moveTo>
                  <a:pt x="9248" y="4701"/>
                </a:moveTo>
                <a:lnTo>
                  <a:pt x="7915" y="188"/>
                </a:lnTo>
                <a:cubicBezTo>
                  <a:pt x="7906" y="156"/>
                  <a:pt x="7895" y="126"/>
                  <a:pt x="7886" y="94"/>
                </a:cubicBezTo>
                <a:cubicBezTo>
                  <a:pt x="7859" y="0"/>
                  <a:pt x="7831" y="0"/>
                  <a:pt x="7803" y="0"/>
                </a:cubicBezTo>
                <a:lnTo>
                  <a:pt x="7275" y="0"/>
                </a:lnTo>
                <a:lnTo>
                  <a:pt x="0" y="70"/>
                </a:lnTo>
                <a:cubicBezTo>
                  <a:pt x="8" y="3380"/>
                  <a:pt x="17" y="6690"/>
                  <a:pt x="25" y="10000"/>
                </a:cubicBezTo>
                <a:lnTo>
                  <a:pt x="7275" y="9966"/>
                </a:lnTo>
                <a:lnTo>
                  <a:pt x="7803" y="9966"/>
                </a:lnTo>
                <a:cubicBezTo>
                  <a:pt x="7831" y="9966"/>
                  <a:pt x="7859" y="9872"/>
                  <a:pt x="7886" y="9872"/>
                </a:cubicBezTo>
                <a:cubicBezTo>
                  <a:pt x="7886" y="9778"/>
                  <a:pt x="7915" y="9778"/>
                  <a:pt x="7915" y="9778"/>
                </a:cubicBezTo>
                <a:lnTo>
                  <a:pt x="9248" y="5265"/>
                </a:lnTo>
                <a:cubicBezTo>
                  <a:pt x="9303" y="5077"/>
                  <a:pt x="9303" y="4889"/>
                  <a:pt x="9248" y="4701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263788555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3" name="Group 22"/>
          <p:cNvGrpSpPr/>
          <p:nvPr/>
        </p:nvGrpSpPr>
        <p:grpSpPr>
          <a:xfrm>
            <a:off x="1" y="228600"/>
            <a:ext cx="2851516" cy="6638628"/>
            <a:chOff x="2487613" y="285750"/>
            <a:chExt cx="2428875" cy="5654676"/>
          </a:xfrm>
        </p:grpSpPr>
        <p:sp>
          <p:nvSpPr>
            <p:cNvPr id="24" name="Freeform 11"/>
            <p:cNvSpPr/>
            <p:nvPr/>
          </p:nvSpPr>
          <p:spPr bwMode="auto">
            <a:xfrm>
              <a:off x="2487613" y="2284413"/>
              <a:ext cx="85725" cy="533400"/>
            </a:xfrm>
            <a:custGeom>
              <a:avLst/>
              <a:gdLst/>
              <a:ahLst/>
              <a:cxnLst/>
              <a:rect l="0" t="0" r="r" b="b"/>
              <a:pathLst>
                <a:path w="22" h="136">
                  <a:moveTo>
                    <a:pt x="22" y="136"/>
                  </a:moveTo>
                  <a:cubicBezTo>
                    <a:pt x="20" y="117"/>
                    <a:pt x="19" y="99"/>
                    <a:pt x="17" y="80"/>
                  </a:cubicBezTo>
                  <a:cubicBezTo>
                    <a:pt x="11" y="54"/>
                    <a:pt x="6" y="27"/>
                    <a:pt x="0" y="0"/>
                  </a:cubicBezTo>
                  <a:cubicBezTo>
                    <a:pt x="0" y="35"/>
                    <a:pt x="0" y="35"/>
                    <a:pt x="0" y="35"/>
                  </a:cubicBezTo>
                  <a:cubicBezTo>
                    <a:pt x="6" y="64"/>
                    <a:pt x="13" y="94"/>
                    <a:pt x="20" y="124"/>
                  </a:cubicBezTo>
                  <a:cubicBezTo>
                    <a:pt x="20" y="128"/>
                    <a:pt x="21" y="132"/>
                    <a:pt x="22" y="136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5" name="Freeform 12"/>
            <p:cNvSpPr/>
            <p:nvPr/>
          </p:nvSpPr>
          <p:spPr bwMode="auto">
            <a:xfrm>
              <a:off x="2597151" y="2779713"/>
              <a:ext cx="550863" cy="1978025"/>
            </a:xfrm>
            <a:custGeom>
              <a:avLst/>
              <a:gdLst/>
              <a:ahLst/>
              <a:cxnLst/>
              <a:rect l="0" t="0" r="r" b="b"/>
              <a:pathLst>
                <a:path w="140" h="504">
                  <a:moveTo>
                    <a:pt x="86" y="350"/>
                  </a:moveTo>
                  <a:cubicBezTo>
                    <a:pt x="103" y="402"/>
                    <a:pt x="120" y="453"/>
                    <a:pt x="139" y="504"/>
                  </a:cubicBezTo>
                  <a:cubicBezTo>
                    <a:pt x="139" y="495"/>
                    <a:pt x="139" y="487"/>
                    <a:pt x="140" y="478"/>
                  </a:cubicBezTo>
                  <a:cubicBezTo>
                    <a:pt x="124" y="435"/>
                    <a:pt x="109" y="391"/>
                    <a:pt x="95" y="347"/>
                  </a:cubicBezTo>
                  <a:cubicBezTo>
                    <a:pt x="58" y="233"/>
                    <a:pt x="27" y="117"/>
                    <a:pt x="0" y="0"/>
                  </a:cubicBezTo>
                  <a:cubicBezTo>
                    <a:pt x="2" y="20"/>
                    <a:pt x="4" y="41"/>
                    <a:pt x="6" y="61"/>
                  </a:cubicBezTo>
                  <a:cubicBezTo>
                    <a:pt x="30" y="158"/>
                    <a:pt x="56" y="255"/>
                    <a:pt x="86" y="35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6" name="Freeform 13"/>
            <p:cNvSpPr/>
            <p:nvPr/>
          </p:nvSpPr>
          <p:spPr bwMode="auto">
            <a:xfrm>
              <a:off x="3175001" y="4730750"/>
              <a:ext cx="519113" cy="1209675"/>
            </a:xfrm>
            <a:custGeom>
              <a:avLst/>
              <a:gdLst/>
              <a:ahLst/>
              <a:cxnLst/>
              <a:rect l="0" t="0" r="r" b="b"/>
              <a:pathLst>
                <a:path w="132" h="308">
                  <a:moveTo>
                    <a:pt x="8" y="22"/>
                  </a:moveTo>
                  <a:cubicBezTo>
                    <a:pt x="5" y="15"/>
                    <a:pt x="2" y="8"/>
                    <a:pt x="0" y="0"/>
                  </a:cubicBezTo>
                  <a:cubicBezTo>
                    <a:pt x="0" y="10"/>
                    <a:pt x="0" y="19"/>
                    <a:pt x="0" y="29"/>
                  </a:cubicBezTo>
                  <a:cubicBezTo>
                    <a:pt x="21" y="85"/>
                    <a:pt x="44" y="140"/>
                    <a:pt x="68" y="194"/>
                  </a:cubicBezTo>
                  <a:cubicBezTo>
                    <a:pt x="85" y="232"/>
                    <a:pt x="104" y="270"/>
                    <a:pt x="123" y="308"/>
                  </a:cubicBezTo>
                  <a:cubicBezTo>
                    <a:pt x="132" y="308"/>
                    <a:pt x="132" y="308"/>
                    <a:pt x="132" y="308"/>
                  </a:cubicBezTo>
                  <a:cubicBezTo>
                    <a:pt x="113" y="269"/>
                    <a:pt x="94" y="230"/>
                    <a:pt x="77" y="190"/>
                  </a:cubicBezTo>
                  <a:cubicBezTo>
                    <a:pt x="52" y="135"/>
                    <a:pt x="29" y="79"/>
                    <a:pt x="8" y="22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7" name="Freeform 14"/>
            <p:cNvSpPr/>
            <p:nvPr/>
          </p:nvSpPr>
          <p:spPr bwMode="auto">
            <a:xfrm>
              <a:off x="3305176" y="5630863"/>
              <a:ext cx="146050" cy="309563"/>
            </a:xfrm>
            <a:custGeom>
              <a:avLst/>
              <a:gdLst/>
              <a:ahLst/>
              <a:cxnLst/>
              <a:rect l="0" t="0" r="r" b="b"/>
              <a:pathLst>
                <a:path w="37" h="79">
                  <a:moveTo>
                    <a:pt x="28" y="79"/>
                  </a:moveTo>
                  <a:cubicBezTo>
                    <a:pt x="37" y="79"/>
                    <a:pt x="37" y="79"/>
                    <a:pt x="37" y="79"/>
                  </a:cubicBezTo>
                  <a:cubicBezTo>
                    <a:pt x="24" y="53"/>
                    <a:pt x="12" y="27"/>
                    <a:pt x="0" y="0"/>
                  </a:cubicBezTo>
                  <a:cubicBezTo>
                    <a:pt x="8" y="27"/>
                    <a:pt x="17" y="53"/>
                    <a:pt x="28" y="79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8" name="Freeform 15"/>
            <p:cNvSpPr/>
            <p:nvPr/>
          </p:nvSpPr>
          <p:spPr bwMode="auto">
            <a:xfrm>
              <a:off x="2573338" y="2817813"/>
              <a:ext cx="700088" cy="2835275"/>
            </a:xfrm>
            <a:custGeom>
              <a:avLst/>
              <a:gdLst/>
              <a:ahLst/>
              <a:cxnLst/>
              <a:rect l="0" t="0" r="r" b="b"/>
              <a:pathLst>
                <a:path w="178" h="722">
                  <a:moveTo>
                    <a:pt x="162" y="660"/>
                  </a:moveTo>
                  <a:cubicBezTo>
                    <a:pt x="145" y="618"/>
                    <a:pt x="130" y="576"/>
                    <a:pt x="116" y="534"/>
                  </a:cubicBezTo>
                  <a:cubicBezTo>
                    <a:pt x="84" y="437"/>
                    <a:pt x="59" y="337"/>
                    <a:pt x="40" y="236"/>
                  </a:cubicBezTo>
                  <a:cubicBezTo>
                    <a:pt x="29" y="175"/>
                    <a:pt x="20" y="113"/>
                    <a:pt x="12" y="51"/>
                  </a:cubicBezTo>
                  <a:cubicBezTo>
                    <a:pt x="8" y="34"/>
                    <a:pt x="4" y="17"/>
                    <a:pt x="0" y="0"/>
                  </a:cubicBezTo>
                  <a:cubicBezTo>
                    <a:pt x="8" y="79"/>
                    <a:pt x="19" y="159"/>
                    <a:pt x="33" y="237"/>
                  </a:cubicBezTo>
                  <a:cubicBezTo>
                    <a:pt x="51" y="339"/>
                    <a:pt x="76" y="439"/>
                    <a:pt x="107" y="537"/>
                  </a:cubicBezTo>
                  <a:cubicBezTo>
                    <a:pt x="123" y="586"/>
                    <a:pt x="141" y="634"/>
                    <a:pt x="160" y="681"/>
                  </a:cubicBezTo>
                  <a:cubicBezTo>
                    <a:pt x="166" y="695"/>
                    <a:pt x="172" y="708"/>
                    <a:pt x="178" y="722"/>
                  </a:cubicBezTo>
                  <a:cubicBezTo>
                    <a:pt x="176" y="717"/>
                    <a:pt x="175" y="713"/>
                    <a:pt x="174" y="708"/>
                  </a:cubicBezTo>
                  <a:cubicBezTo>
                    <a:pt x="169" y="692"/>
                    <a:pt x="165" y="676"/>
                    <a:pt x="162" y="66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29" name="Freeform 16"/>
            <p:cNvSpPr/>
            <p:nvPr/>
          </p:nvSpPr>
          <p:spPr bwMode="auto">
            <a:xfrm>
              <a:off x="2506663" y="285750"/>
              <a:ext cx="90488" cy="2493963"/>
            </a:xfrm>
            <a:custGeom>
              <a:avLst/>
              <a:gdLst/>
              <a:ahLst/>
              <a:cxnLst/>
              <a:rect l="0" t="0" r="r" b="b"/>
              <a:pathLst>
                <a:path w="23" h="635">
                  <a:moveTo>
                    <a:pt x="11" y="577"/>
                  </a:moveTo>
                  <a:cubicBezTo>
                    <a:pt x="12" y="581"/>
                    <a:pt x="12" y="585"/>
                    <a:pt x="12" y="589"/>
                  </a:cubicBezTo>
                  <a:cubicBezTo>
                    <a:pt x="15" y="603"/>
                    <a:pt x="19" y="617"/>
                    <a:pt x="22" y="632"/>
                  </a:cubicBezTo>
                  <a:cubicBezTo>
                    <a:pt x="22" y="633"/>
                    <a:pt x="22" y="634"/>
                    <a:pt x="23" y="635"/>
                  </a:cubicBezTo>
                  <a:cubicBezTo>
                    <a:pt x="21" y="615"/>
                    <a:pt x="19" y="596"/>
                    <a:pt x="17" y="576"/>
                  </a:cubicBezTo>
                  <a:cubicBezTo>
                    <a:pt x="9" y="474"/>
                    <a:pt x="5" y="372"/>
                    <a:pt x="5" y="269"/>
                  </a:cubicBezTo>
                  <a:cubicBezTo>
                    <a:pt x="6" y="179"/>
                    <a:pt x="9" y="90"/>
                    <a:pt x="15" y="0"/>
                  </a:cubicBezTo>
                  <a:cubicBezTo>
                    <a:pt x="12" y="0"/>
                    <a:pt x="12" y="0"/>
                    <a:pt x="12" y="0"/>
                  </a:cubicBezTo>
                  <a:cubicBezTo>
                    <a:pt x="5" y="89"/>
                    <a:pt x="2" y="179"/>
                    <a:pt x="1" y="269"/>
                  </a:cubicBezTo>
                  <a:cubicBezTo>
                    <a:pt x="0" y="372"/>
                    <a:pt x="3" y="474"/>
                    <a:pt x="11" y="577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0" name="Freeform 17"/>
            <p:cNvSpPr/>
            <p:nvPr/>
          </p:nvSpPr>
          <p:spPr bwMode="auto">
            <a:xfrm>
              <a:off x="2554288" y="2598738"/>
              <a:ext cx="66675" cy="420688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0" y="0"/>
                  </a:moveTo>
                  <a:cubicBezTo>
                    <a:pt x="2" y="19"/>
                    <a:pt x="3" y="37"/>
                    <a:pt x="5" y="56"/>
                  </a:cubicBezTo>
                  <a:cubicBezTo>
                    <a:pt x="9" y="73"/>
                    <a:pt x="13" y="90"/>
                    <a:pt x="17" y="107"/>
                  </a:cubicBezTo>
                  <a:cubicBezTo>
                    <a:pt x="15" y="87"/>
                    <a:pt x="13" y="66"/>
                    <a:pt x="11" y="46"/>
                  </a:cubicBezTo>
                  <a:cubicBezTo>
                    <a:pt x="10" y="45"/>
                    <a:pt x="10" y="44"/>
                    <a:pt x="10" y="43"/>
                  </a:cubicBezTo>
                  <a:cubicBezTo>
                    <a:pt x="7" y="28"/>
                    <a:pt x="3" y="1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1" name="Freeform 18"/>
            <p:cNvSpPr/>
            <p:nvPr/>
          </p:nvSpPr>
          <p:spPr bwMode="auto">
            <a:xfrm>
              <a:off x="3143251" y="4757738"/>
              <a:ext cx="161925" cy="873125"/>
            </a:xfrm>
            <a:custGeom>
              <a:avLst/>
              <a:gdLst/>
              <a:ahLst/>
              <a:cxnLst/>
              <a:rect l="0" t="0" r="r" b="b"/>
              <a:pathLst>
                <a:path w="41" h="222">
                  <a:moveTo>
                    <a:pt x="0" y="0"/>
                  </a:moveTo>
                  <a:cubicBezTo>
                    <a:pt x="0" y="31"/>
                    <a:pt x="2" y="62"/>
                    <a:pt x="5" y="93"/>
                  </a:cubicBezTo>
                  <a:cubicBezTo>
                    <a:pt x="8" y="117"/>
                    <a:pt x="12" y="142"/>
                    <a:pt x="17" y="166"/>
                  </a:cubicBezTo>
                  <a:cubicBezTo>
                    <a:pt x="19" y="172"/>
                    <a:pt x="22" y="178"/>
                    <a:pt x="24" y="184"/>
                  </a:cubicBezTo>
                  <a:cubicBezTo>
                    <a:pt x="30" y="197"/>
                    <a:pt x="35" y="209"/>
                    <a:pt x="41" y="222"/>
                  </a:cubicBezTo>
                  <a:cubicBezTo>
                    <a:pt x="40" y="219"/>
                    <a:pt x="39" y="215"/>
                    <a:pt x="38" y="212"/>
                  </a:cubicBezTo>
                  <a:cubicBezTo>
                    <a:pt x="26" y="172"/>
                    <a:pt x="18" y="132"/>
                    <a:pt x="13" y="92"/>
                  </a:cubicBezTo>
                  <a:cubicBezTo>
                    <a:pt x="11" y="68"/>
                    <a:pt x="9" y="45"/>
                    <a:pt x="8" y="22"/>
                  </a:cubicBezTo>
                  <a:cubicBezTo>
                    <a:pt x="8" y="21"/>
                    <a:pt x="7" y="20"/>
                    <a:pt x="7" y="18"/>
                  </a:cubicBezTo>
                  <a:cubicBezTo>
                    <a:pt x="5" y="12"/>
                    <a:pt x="2" y="6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2" name="Freeform 19"/>
            <p:cNvSpPr/>
            <p:nvPr/>
          </p:nvSpPr>
          <p:spPr bwMode="auto">
            <a:xfrm>
              <a:off x="3148013" y="1282700"/>
              <a:ext cx="1768475" cy="3448050"/>
            </a:xfrm>
            <a:custGeom>
              <a:avLst/>
              <a:gdLst/>
              <a:ahLst/>
              <a:cxnLst/>
              <a:rect l="0" t="0" r="r" b="b"/>
              <a:pathLst>
                <a:path w="450" h="878">
                  <a:moveTo>
                    <a:pt x="7" y="854"/>
                  </a:moveTo>
                  <a:cubicBezTo>
                    <a:pt x="10" y="772"/>
                    <a:pt x="26" y="691"/>
                    <a:pt x="50" y="613"/>
                  </a:cubicBezTo>
                  <a:cubicBezTo>
                    <a:pt x="75" y="535"/>
                    <a:pt x="109" y="460"/>
                    <a:pt x="149" y="388"/>
                  </a:cubicBezTo>
                  <a:cubicBezTo>
                    <a:pt x="189" y="316"/>
                    <a:pt x="235" y="248"/>
                    <a:pt x="285" y="183"/>
                  </a:cubicBezTo>
                  <a:cubicBezTo>
                    <a:pt x="310" y="151"/>
                    <a:pt x="337" y="119"/>
                    <a:pt x="364" y="89"/>
                  </a:cubicBezTo>
                  <a:cubicBezTo>
                    <a:pt x="378" y="74"/>
                    <a:pt x="392" y="58"/>
                    <a:pt x="406" y="44"/>
                  </a:cubicBezTo>
                  <a:cubicBezTo>
                    <a:pt x="421" y="29"/>
                    <a:pt x="435" y="15"/>
                    <a:pt x="450" y="1"/>
                  </a:cubicBezTo>
                  <a:cubicBezTo>
                    <a:pt x="450" y="0"/>
                    <a:pt x="450" y="0"/>
                    <a:pt x="450" y="0"/>
                  </a:cubicBezTo>
                  <a:cubicBezTo>
                    <a:pt x="434" y="14"/>
                    <a:pt x="420" y="28"/>
                    <a:pt x="405" y="43"/>
                  </a:cubicBezTo>
                  <a:cubicBezTo>
                    <a:pt x="391" y="57"/>
                    <a:pt x="377" y="72"/>
                    <a:pt x="363" y="88"/>
                  </a:cubicBezTo>
                  <a:cubicBezTo>
                    <a:pt x="335" y="118"/>
                    <a:pt x="308" y="149"/>
                    <a:pt x="283" y="181"/>
                  </a:cubicBezTo>
                  <a:cubicBezTo>
                    <a:pt x="232" y="246"/>
                    <a:pt x="185" y="314"/>
                    <a:pt x="145" y="386"/>
                  </a:cubicBezTo>
                  <a:cubicBezTo>
                    <a:pt x="104" y="457"/>
                    <a:pt x="70" y="533"/>
                    <a:pt x="45" y="611"/>
                  </a:cubicBezTo>
                  <a:cubicBezTo>
                    <a:pt x="19" y="690"/>
                    <a:pt x="3" y="771"/>
                    <a:pt x="0" y="854"/>
                  </a:cubicBezTo>
                  <a:cubicBezTo>
                    <a:pt x="0" y="856"/>
                    <a:pt x="0" y="857"/>
                    <a:pt x="0" y="859"/>
                  </a:cubicBezTo>
                  <a:cubicBezTo>
                    <a:pt x="2" y="865"/>
                    <a:pt x="4" y="872"/>
                    <a:pt x="7" y="878"/>
                  </a:cubicBezTo>
                  <a:cubicBezTo>
                    <a:pt x="7" y="870"/>
                    <a:pt x="7" y="862"/>
                    <a:pt x="7" y="85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3" name="Freeform 20"/>
            <p:cNvSpPr/>
            <p:nvPr/>
          </p:nvSpPr>
          <p:spPr bwMode="auto">
            <a:xfrm>
              <a:off x="3273426" y="5653088"/>
              <a:ext cx="138113" cy="287338"/>
            </a:xfrm>
            <a:custGeom>
              <a:avLst/>
              <a:gdLst/>
              <a:ahLst/>
              <a:cxnLst/>
              <a:rect l="0" t="0" r="r" b="b"/>
              <a:pathLst>
                <a:path w="35" h="73">
                  <a:moveTo>
                    <a:pt x="0" y="0"/>
                  </a:moveTo>
                  <a:cubicBezTo>
                    <a:pt x="7" y="24"/>
                    <a:pt x="16" y="49"/>
                    <a:pt x="26" y="73"/>
                  </a:cubicBezTo>
                  <a:cubicBezTo>
                    <a:pt x="35" y="73"/>
                    <a:pt x="35" y="73"/>
                    <a:pt x="35" y="73"/>
                  </a:cubicBezTo>
                  <a:cubicBezTo>
                    <a:pt x="23" y="49"/>
                    <a:pt x="11" y="24"/>
                    <a:pt x="0" y="0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4" name="Freeform 21"/>
            <p:cNvSpPr/>
            <p:nvPr/>
          </p:nvSpPr>
          <p:spPr bwMode="auto">
            <a:xfrm>
              <a:off x="3143251" y="4656138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7" y="44"/>
                  </a:moveTo>
                  <a:cubicBezTo>
                    <a:pt x="7" y="46"/>
                    <a:pt x="8" y="47"/>
                    <a:pt x="8" y="48"/>
                  </a:cubicBezTo>
                  <a:cubicBezTo>
                    <a:pt x="8" y="38"/>
                    <a:pt x="8" y="29"/>
                    <a:pt x="8" y="19"/>
                  </a:cubicBezTo>
                  <a:cubicBezTo>
                    <a:pt x="5" y="13"/>
                    <a:pt x="3" y="6"/>
                    <a:pt x="1" y="0"/>
                  </a:cubicBezTo>
                  <a:cubicBezTo>
                    <a:pt x="0" y="9"/>
                    <a:pt x="0" y="17"/>
                    <a:pt x="0" y="26"/>
                  </a:cubicBezTo>
                  <a:cubicBezTo>
                    <a:pt x="2" y="32"/>
                    <a:pt x="5" y="38"/>
                    <a:pt x="7" y="44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  <p:sp>
          <p:nvSpPr>
            <p:cNvPr id="35" name="Freeform 22"/>
            <p:cNvSpPr/>
            <p:nvPr/>
          </p:nvSpPr>
          <p:spPr bwMode="auto">
            <a:xfrm>
              <a:off x="3211513" y="5410200"/>
              <a:ext cx="203200" cy="530225"/>
            </a:xfrm>
            <a:custGeom>
              <a:avLst/>
              <a:gdLst/>
              <a:ahLst/>
              <a:cxnLst/>
              <a:rect l="0" t="0" r="r" b="b"/>
              <a:pathLst>
                <a:path w="52" h="135">
                  <a:moveTo>
                    <a:pt x="7" y="18"/>
                  </a:moveTo>
                  <a:cubicBezTo>
                    <a:pt x="5" y="12"/>
                    <a:pt x="2" y="6"/>
                    <a:pt x="0" y="0"/>
                  </a:cubicBezTo>
                  <a:cubicBezTo>
                    <a:pt x="3" y="16"/>
                    <a:pt x="7" y="32"/>
                    <a:pt x="12" y="48"/>
                  </a:cubicBezTo>
                  <a:cubicBezTo>
                    <a:pt x="13" y="53"/>
                    <a:pt x="14" y="57"/>
                    <a:pt x="16" y="62"/>
                  </a:cubicBezTo>
                  <a:cubicBezTo>
                    <a:pt x="27" y="86"/>
                    <a:pt x="39" y="111"/>
                    <a:pt x="51" y="135"/>
                  </a:cubicBezTo>
                  <a:cubicBezTo>
                    <a:pt x="52" y="135"/>
                    <a:pt x="52" y="135"/>
                    <a:pt x="52" y="135"/>
                  </a:cubicBezTo>
                  <a:cubicBezTo>
                    <a:pt x="41" y="109"/>
                    <a:pt x="32" y="83"/>
                    <a:pt x="24" y="56"/>
                  </a:cubicBezTo>
                  <a:cubicBezTo>
                    <a:pt x="18" y="43"/>
                    <a:pt x="13" y="31"/>
                    <a:pt x="7" y="18"/>
                  </a:cubicBezTo>
                  <a:close/>
                </a:path>
              </a:pathLst>
            </a:custGeom>
            <a:solidFill>
              <a:schemeClr val="tx2">
                <a:alpha val="20000"/>
              </a:schemeClr>
            </a:solidFill>
            <a:ln>
              <a:noFill/>
            </a:ln>
          </p:spPr>
        </p:sp>
      </p:grpSp>
      <p:grpSp>
        <p:nvGrpSpPr>
          <p:cNvPr id="10" name="Group 9"/>
          <p:cNvGrpSpPr/>
          <p:nvPr/>
        </p:nvGrpSpPr>
        <p:grpSpPr>
          <a:xfrm>
            <a:off x="27221" y="-786"/>
            <a:ext cx="2356674" cy="6854039"/>
            <a:chOff x="6627813" y="194833"/>
            <a:chExt cx="1952625" cy="5678918"/>
          </a:xfrm>
        </p:grpSpPr>
        <p:sp>
          <p:nvSpPr>
            <p:cNvPr id="11" name="Freeform 27"/>
            <p:cNvSpPr/>
            <p:nvPr/>
          </p:nvSpPr>
          <p:spPr bwMode="auto">
            <a:xfrm>
              <a:off x="6627813" y="194833"/>
              <a:ext cx="409575" cy="3646488"/>
            </a:xfrm>
            <a:custGeom>
              <a:avLst/>
              <a:gdLst/>
              <a:ahLst/>
              <a:cxnLst/>
              <a:rect l="0" t="0" r="r" b="b"/>
              <a:pathLst>
                <a:path w="103" h="920">
                  <a:moveTo>
                    <a:pt x="7" y="210"/>
                  </a:moveTo>
                  <a:cubicBezTo>
                    <a:pt x="11" y="288"/>
                    <a:pt x="17" y="367"/>
                    <a:pt x="26" y="445"/>
                  </a:cubicBezTo>
                  <a:cubicBezTo>
                    <a:pt x="34" y="523"/>
                    <a:pt x="44" y="601"/>
                    <a:pt x="57" y="679"/>
                  </a:cubicBezTo>
                  <a:cubicBezTo>
                    <a:pt x="69" y="757"/>
                    <a:pt x="84" y="834"/>
                    <a:pt x="101" y="911"/>
                  </a:cubicBezTo>
                  <a:cubicBezTo>
                    <a:pt x="102" y="914"/>
                    <a:pt x="103" y="917"/>
                    <a:pt x="103" y="920"/>
                  </a:cubicBezTo>
                  <a:cubicBezTo>
                    <a:pt x="102" y="905"/>
                    <a:pt x="100" y="889"/>
                    <a:pt x="99" y="874"/>
                  </a:cubicBezTo>
                  <a:cubicBezTo>
                    <a:pt x="99" y="871"/>
                    <a:pt x="99" y="868"/>
                    <a:pt x="99" y="866"/>
                  </a:cubicBezTo>
                  <a:cubicBezTo>
                    <a:pt x="85" y="803"/>
                    <a:pt x="73" y="741"/>
                    <a:pt x="63" y="678"/>
                  </a:cubicBezTo>
                  <a:cubicBezTo>
                    <a:pt x="50" y="600"/>
                    <a:pt x="39" y="523"/>
                    <a:pt x="30" y="444"/>
                  </a:cubicBezTo>
                  <a:cubicBezTo>
                    <a:pt x="21" y="366"/>
                    <a:pt x="14" y="288"/>
                    <a:pt x="9" y="209"/>
                  </a:cubicBezTo>
                  <a:cubicBezTo>
                    <a:pt x="7" y="170"/>
                    <a:pt x="5" y="131"/>
                    <a:pt x="3" y="92"/>
                  </a:cubicBezTo>
                  <a:cubicBezTo>
                    <a:pt x="2" y="61"/>
                    <a:pt x="1" y="31"/>
                    <a:pt x="1" y="0"/>
                  </a:cubicBezTo>
                  <a:cubicBezTo>
                    <a:pt x="0" y="0"/>
                    <a:pt x="0" y="0"/>
                    <a:pt x="0" y="0"/>
                  </a:cubicBezTo>
                  <a:cubicBezTo>
                    <a:pt x="0" y="31"/>
                    <a:pt x="1" y="61"/>
                    <a:pt x="1" y="92"/>
                  </a:cubicBezTo>
                  <a:cubicBezTo>
                    <a:pt x="3" y="131"/>
                    <a:pt x="4" y="170"/>
                    <a:pt x="7" y="21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2" name="Freeform 28"/>
            <p:cNvSpPr/>
            <p:nvPr/>
          </p:nvSpPr>
          <p:spPr bwMode="auto">
            <a:xfrm>
              <a:off x="7061201" y="3771900"/>
              <a:ext cx="350838" cy="1309688"/>
            </a:xfrm>
            <a:custGeom>
              <a:avLst/>
              <a:gdLst/>
              <a:ahLst/>
              <a:cxnLst/>
              <a:rect l="0" t="0" r="r" b="b"/>
              <a:pathLst>
                <a:path w="88" h="330">
                  <a:moveTo>
                    <a:pt x="53" y="229"/>
                  </a:moveTo>
                  <a:cubicBezTo>
                    <a:pt x="64" y="263"/>
                    <a:pt x="75" y="297"/>
                    <a:pt x="88" y="330"/>
                  </a:cubicBezTo>
                  <a:cubicBezTo>
                    <a:pt x="88" y="323"/>
                    <a:pt x="88" y="315"/>
                    <a:pt x="88" y="308"/>
                  </a:cubicBezTo>
                  <a:cubicBezTo>
                    <a:pt x="88" y="307"/>
                    <a:pt x="88" y="305"/>
                    <a:pt x="88" y="304"/>
                  </a:cubicBezTo>
                  <a:cubicBezTo>
                    <a:pt x="79" y="278"/>
                    <a:pt x="70" y="252"/>
                    <a:pt x="62" y="226"/>
                  </a:cubicBezTo>
                  <a:cubicBezTo>
                    <a:pt x="38" y="152"/>
                    <a:pt x="17" y="76"/>
                    <a:pt x="0" y="0"/>
                  </a:cubicBezTo>
                  <a:cubicBezTo>
                    <a:pt x="2" y="21"/>
                    <a:pt x="4" y="42"/>
                    <a:pt x="7" y="63"/>
                  </a:cubicBezTo>
                  <a:cubicBezTo>
                    <a:pt x="21" y="119"/>
                    <a:pt x="36" y="174"/>
                    <a:pt x="53" y="22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3" name="Freeform 29"/>
            <p:cNvSpPr/>
            <p:nvPr/>
          </p:nvSpPr>
          <p:spPr bwMode="auto">
            <a:xfrm>
              <a:off x="7439026" y="5053013"/>
              <a:ext cx="357188" cy="820738"/>
            </a:xfrm>
            <a:custGeom>
              <a:avLst/>
              <a:gdLst/>
              <a:ahLst/>
              <a:cxnLst/>
              <a:rect l="0" t="0" r="r" b="b"/>
              <a:pathLst>
                <a:path w="90" h="207">
                  <a:moveTo>
                    <a:pt x="6" y="15"/>
                  </a:moveTo>
                  <a:cubicBezTo>
                    <a:pt x="4" y="10"/>
                    <a:pt x="2" y="5"/>
                    <a:pt x="0" y="0"/>
                  </a:cubicBezTo>
                  <a:cubicBezTo>
                    <a:pt x="0" y="9"/>
                    <a:pt x="0" y="19"/>
                    <a:pt x="1" y="29"/>
                  </a:cubicBezTo>
                  <a:cubicBezTo>
                    <a:pt x="14" y="62"/>
                    <a:pt x="27" y="95"/>
                    <a:pt x="42" y="127"/>
                  </a:cubicBezTo>
                  <a:cubicBezTo>
                    <a:pt x="54" y="154"/>
                    <a:pt x="67" y="181"/>
                    <a:pt x="80" y="207"/>
                  </a:cubicBezTo>
                  <a:cubicBezTo>
                    <a:pt x="90" y="207"/>
                    <a:pt x="90" y="207"/>
                    <a:pt x="90" y="207"/>
                  </a:cubicBezTo>
                  <a:cubicBezTo>
                    <a:pt x="76" y="180"/>
                    <a:pt x="63" y="152"/>
                    <a:pt x="50" y="123"/>
                  </a:cubicBezTo>
                  <a:cubicBezTo>
                    <a:pt x="34" y="88"/>
                    <a:pt x="20" y="51"/>
                    <a:pt x="6" y="15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4" name="Freeform 30"/>
            <p:cNvSpPr/>
            <p:nvPr/>
          </p:nvSpPr>
          <p:spPr bwMode="auto">
            <a:xfrm>
              <a:off x="7037388" y="3811588"/>
              <a:ext cx="457200" cy="1852613"/>
            </a:xfrm>
            <a:custGeom>
              <a:avLst/>
              <a:gdLst/>
              <a:ahLst/>
              <a:cxnLst/>
              <a:rect l="0" t="0" r="r" b="b"/>
              <a:pathLst>
                <a:path w="115" h="467">
                  <a:moveTo>
                    <a:pt x="101" y="409"/>
                  </a:moveTo>
                  <a:cubicBezTo>
                    <a:pt x="93" y="388"/>
                    <a:pt x="85" y="366"/>
                    <a:pt x="78" y="344"/>
                  </a:cubicBezTo>
                  <a:cubicBezTo>
                    <a:pt x="57" y="281"/>
                    <a:pt x="41" y="216"/>
                    <a:pt x="29" y="151"/>
                  </a:cubicBezTo>
                  <a:cubicBezTo>
                    <a:pt x="22" y="119"/>
                    <a:pt x="17" y="86"/>
                    <a:pt x="13" y="53"/>
                  </a:cubicBezTo>
                  <a:cubicBezTo>
                    <a:pt x="9" y="35"/>
                    <a:pt x="4" y="18"/>
                    <a:pt x="0" y="0"/>
                  </a:cubicBezTo>
                  <a:cubicBezTo>
                    <a:pt x="5" y="51"/>
                    <a:pt x="12" y="102"/>
                    <a:pt x="21" y="152"/>
                  </a:cubicBezTo>
                  <a:cubicBezTo>
                    <a:pt x="33" y="218"/>
                    <a:pt x="49" y="283"/>
                    <a:pt x="69" y="347"/>
                  </a:cubicBezTo>
                  <a:cubicBezTo>
                    <a:pt x="79" y="378"/>
                    <a:pt x="90" y="410"/>
                    <a:pt x="103" y="441"/>
                  </a:cubicBezTo>
                  <a:cubicBezTo>
                    <a:pt x="107" y="449"/>
                    <a:pt x="111" y="458"/>
                    <a:pt x="115" y="467"/>
                  </a:cubicBezTo>
                  <a:cubicBezTo>
                    <a:pt x="114" y="464"/>
                    <a:pt x="113" y="461"/>
                    <a:pt x="112" y="458"/>
                  </a:cubicBezTo>
                  <a:cubicBezTo>
                    <a:pt x="108" y="442"/>
                    <a:pt x="104" y="425"/>
                    <a:pt x="101" y="40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5" name="Freeform 31"/>
            <p:cNvSpPr/>
            <p:nvPr/>
          </p:nvSpPr>
          <p:spPr bwMode="auto">
            <a:xfrm>
              <a:off x="6992938" y="1263650"/>
              <a:ext cx="144463" cy="2508250"/>
            </a:xfrm>
            <a:custGeom>
              <a:avLst/>
              <a:gdLst/>
              <a:ahLst/>
              <a:cxnLst/>
              <a:rect l="0" t="0" r="r" b="b"/>
              <a:pathLst>
                <a:path w="36" h="633">
                  <a:moveTo>
                    <a:pt x="17" y="633"/>
                  </a:moveTo>
                  <a:cubicBezTo>
                    <a:pt x="15" y="621"/>
                    <a:pt x="14" y="609"/>
                    <a:pt x="13" y="597"/>
                  </a:cubicBezTo>
                  <a:cubicBezTo>
                    <a:pt x="8" y="530"/>
                    <a:pt x="5" y="464"/>
                    <a:pt x="5" y="398"/>
                  </a:cubicBezTo>
                  <a:cubicBezTo>
                    <a:pt x="5" y="331"/>
                    <a:pt x="8" y="265"/>
                    <a:pt x="13" y="198"/>
                  </a:cubicBezTo>
                  <a:cubicBezTo>
                    <a:pt x="15" y="165"/>
                    <a:pt x="18" y="132"/>
                    <a:pt x="22" y="99"/>
                  </a:cubicBezTo>
                  <a:cubicBezTo>
                    <a:pt x="26" y="66"/>
                    <a:pt x="30" y="33"/>
                    <a:pt x="36" y="0"/>
                  </a:cubicBezTo>
                  <a:cubicBezTo>
                    <a:pt x="35" y="0"/>
                    <a:pt x="35" y="0"/>
                    <a:pt x="35" y="0"/>
                  </a:cubicBezTo>
                  <a:cubicBezTo>
                    <a:pt x="29" y="33"/>
                    <a:pt x="24" y="66"/>
                    <a:pt x="20" y="99"/>
                  </a:cubicBezTo>
                  <a:cubicBezTo>
                    <a:pt x="16" y="132"/>
                    <a:pt x="13" y="165"/>
                    <a:pt x="10" y="198"/>
                  </a:cubicBezTo>
                  <a:cubicBezTo>
                    <a:pt x="4" y="264"/>
                    <a:pt x="1" y="331"/>
                    <a:pt x="1" y="398"/>
                  </a:cubicBezTo>
                  <a:cubicBezTo>
                    <a:pt x="0" y="461"/>
                    <a:pt x="2" y="525"/>
                    <a:pt x="7" y="589"/>
                  </a:cubicBezTo>
                  <a:cubicBezTo>
                    <a:pt x="10" y="603"/>
                    <a:pt x="13" y="618"/>
                    <a:pt x="16" y="632"/>
                  </a:cubicBezTo>
                  <a:cubicBezTo>
                    <a:pt x="16" y="632"/>
                    <a:pt x="17" y="633"/>
                    <a:pt x="17" y="63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6" name="Freeform 32"/>
            <p:cNvSpPr/>
            <p:nvPr/>
          </p:nvSpPr>
          <p:spPr bwMode="auto">
            <a:xfrm>
              <a:off x="7526338" y="5640388"/>
              <a:ext cx="111125" cy="233363"/>
            </a:xfrm>
            <a:custGeom>
              <a:avLst/>
              <a:gdLst/>
              <a:ahLst/>
              <a:cxnLst/>
              <a:rect l="0" t="0" r="r" b="b"/>
              <a:pathLst>
                <a:path w="28" h="59">
                  <a:moveTo>
                    <a:pt x="22" y="59"/>
                  </a:moveTo>
                  <a:cubicBezTo>
                    <a:pt x="28" y="59"/>
                    <a:pt x="28" y="59"/>
                    <a:pt x="28" y="59"/>
                  </a:cubicBezTo>
                  <a:cubicBezTo>
                    <a:pt x="18" y="40"/>
                    <a:pt x="9" y="20"/>
                    <a:pt x="0" y="0"/>
                  </a:cubicBezTo>
                  <a:cubicBezTo>
                    <a:pt x="6" y="20"/>
                    <a:pt x="13" y="40"/>
                    <a:pt x="22" y="59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7" name="Freeform 33"/>
            <p:cNvSpPr/>
            <p:nvPr/>
          </p:nvSpPr>
          <p:spPr bwMode="auto">
            <a:xfrm>
              <a:off x="7021513" y="3598863"/>
              <a:ext cx="68263" cy="423863"/>
            </a:xfrm>
            <a:custGeom>
              <a:avLst/>
              <a:gdLst/>
              <a:ahLst/>
              <a:cxnLst/>
              <a:rect l="0" t="0" r="r" b="b"/>
              <a:pathLst>
                <a:path w="17" h="107">
                  <a:moveTo>
                    <a:pt x="4" y="54"/>
                  </a:moveTo>
                  <a:cubicBezTo>
                    <a:pt x="8" y="72"/>
                    <a:pt x="13" y="89"/>
                    <a:pt x="17" y="107"/>
                  </a:cubicBezTo>
                  <a:cubicBezTo>
                    <a:pt x="14" y="86"/>
                    <a:pt x="12" y="65"/>
                    <a:pt x="10" y="44"/>
                  </a:cubicBezTo>
                  <a:cubicBezTo>
                    <a:pt x="10" y="44"/>
                    <a:pt x="9" y="43"/>
                    <a:pt x="9" y="43"/>
                  </a:cubicBezTo>
                  <a:cubicBezTo>
                    <a:pt x="6" y="29"/>
                    <a:pt x="3" y="14"/>
                    <a:pt x="0" y="0"/>
                  </a:cubicBezTo>
                  <a:cubicBezTo>
                    <a:pt x="0" y="2"/>
                    <a:pt x="0" y="5"/>
                    <a:pt x="0" y="8"/>
                  </a:cubicBezTo>
                  <a:cubicBezTo>
                    <a:pt x="1" y="23"/>
                    <a:pt x="3" y="39"/>
                    <a:pt x="4" y="54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8" name="Freeform 34"/>
            <p:cNvSpPr/>
            <p:nvPr/>
          </p:nvSpPr>
          <p:spPr bwMode="auto">
            <a:xfrm>
              <a:off x="7412038" y="2801938"/>
              <a:ext cx="1168400" cy="2251075"/>
            </a:xfrm>
            <a:custGeom>
              <a:avLst/>
              <a:gdLst/>
              <a:ahLst/>
              <a:cxnLst/>
              <a:rect l="0" t="0" r="r" b="b"/>
              <a:pathLst>
                <a:path w="294" h="568">
                  <a:moveTo>
                    <a:pt x="8" y="553"/>
                  </a:moveTo>
                  <a:cubicBezTo>
                    <a:pt x="9" y="501"/>
                    <a:pt x="19" y="448"/>
                    <a:pt x="35" y="397"/>
                  </a:cubicBezTo>
                  <a:cubicBezTo>
                    <a:pt x="51" y="347"/>
                    <a:pt x="73" y="298"/>
                    <a:pt x="99" y="252"/>
                  </a:cubicBezTo>
                  <a:cubicBezTo>
                    <a:pt x="124" y="205"/>
                    <a:pt x="154" y="161"/>
                    <a:pt x="187" y="119"/>
                  </a:cubicBezTo>
                  <a:cubicBezTo>
                    <a:pt x="203" y="98"/>
                    <a:pt x="220" y="77"/>
                    <a:pt x="238" y="58"/>
                  </a:cubicBezTo>
                  <a:cubicBezTo>
                    <a:pt x="247" y="48"/>
                    <a:pt x="256" y="38"/>
                    <a:pt x="265" y="28"/>
                  </a:cubicBezTo>
                  <a:cubicBezTo>
                    <a:pt x="274" y="19"/>
                    <a:pt x="284" y="9"/>
                    <a:pt x="294" y="0"/>
                  </a:cubicBezTo>
                  <a:cubicBezTo>
                    <a:pt x="293" y="0"/>
                    <a:pt x="293" y="0"/>
                    <a:pt x="293" y="0"/>
                  </a:cubicBezTo>
                  <a:cubicBezTo>
                    <a:pt x="283" y="9"/>
                    <a:pt x="273" y="18"/>
                    <a:pt x="264" y="27"/>
                  </a:cubicBezTo>
                  <a:cubicBezTo>
                    <a:pt x="255" y="37"/>
                    <a:pt x="246" y="47"/>
                    <a:pt x="237" y="56"/>
                  </a:cubicBezTo>
                  <a:cubicBezTo>
                    <a:pt x="218" y="76"/>
                    <a:pt x="201" y="96"/>
                    <a:pt x="185" y="117"/>
                  </a:cubicBezTo>
                  <a:cubicBezTo>
                    <a:pt x="151" y="159"/>
                    <a:pt x="121" y="203"/>
                    <a:pt x="95" y="249"/>
                  </a:cubicBezTo>
                  <a:cubicBezTo>
                    <a:pt x="68" y="296"/>
                    <a:pt x="46" y="345"/>
                    <a:pt x="30" y="396"/>
                  </a:cubicBezTo>
                  <a:cubicBezTo>
                    <a:pt x="13" y="445"/>
                    <a:pt x="3" y="497"/>
                    <a:pt x="0" y="549"/>
                  </a:cubicBezTo>
                  <a:cubicBezTo>
                    <a:pt x="3" y="555"/>
                    <a:pt x="5" y="561"/>
                    <a:pt x="7" y="568"/>
                  </a:cubicBezTo>
                  <a:cubicBezTo>
                    <a:pt x="7" y="563"/>
                    <a:pt x="7" y="558"/>
                    <a:pt x="8" y="553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19" name="Freeform 35"/>
            <p:cNvSpPr/>
            <p:nvPr/>
          </p:nvSpPr>
          <p:spPr bwMode="auto">
            <a:xfrm>
              <a:off x="7494588" y="5664200"/>
              <a:ext cx="100013" cy="209550"/>
            </a:xfrm>
            <a:custGeom>
              <a:avLst/>
              <a:gdLst/>
              <a:ahLst/>
              <a:cxnLst/>
              <a:rect l="0" t="0" r="r" b="b"/>
              <a:pathLst>
                <a:path w="25" h="53">
                  <a:moveTo>
                    <a:pt x="0" y="0"/>
                  </a:moveTo>
                  <a:cubicBezTo>
                    <a:pt x="5" y="18"/>
                    <a:pt x="12" y="36"/>
                    <a:pt x="19" y="53"/>
                  </a:cubicBezTo>
                  <a:cubicBezTo>
                    <a:pt x="25" y="53"/>
                    <a:pt x="25" y="53"/>
                    <a:pt x="25" y="53"/>
                  </a:cubicBezTo>
                  <a:cubicBezTo>
                    <a:pt x="16" y="36"/>
                    <a:pt x="8" y="18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0" name="Freeform 36"/>
            <p:cNvSpPr/>
            <p:nvPr/>
          </p:nvSpPr>
          <p:spPr bwMode="auto">
            <a:xfrm>
              <a:off x="7412038" y="5081588"/>
              <a:ext cx="114300" cy="558800"/>
            </a:xfrm>
            <a:custGeom>
              <a:avLst/>
              <a:gdLst/>
              <a:ahLst/>
              <a:cxnLst/>
              <a:rect l="0" t="0" r="r" b="b"/>
              <a:pathLst>
                <a:path w="29" h="141">
                  <a:moveTo>
                    <a:pt x="0" y="0"/>
                  </a:moveTo>
                  <a:cubicBezTo>
                    <a:pt x="0" y="30"/>
                    <a:pt x="2" y="60"/>
                    <a:pt x="7" y="89"/>
                  </a:cubicBezTo>
                  <a:cubicBezTo>
                    <a:pt x="11" y="98"/>
                    <a:pt x="14" y="108"/>
                    <a:pt x="18" y="117"/>
                  </a:cubicBezTo>
                  <a:cubicBezTo>
                    <a:pt x="22" y="125"/>
                    <a:pt x="25" y="133"/>
                    <a:pt x="29" y="141"/>
                  </a:cubicBezTo>
                  <a:cubicBezTo>
                    <a:pt x="28" y="139"/>
                    <a:pt x="28" y="137"/>
                    <a:pt x="27" y="135"/>
                  </a:cubicBezTo>
                  <a:cubicBezTo>
                    <a:pt x="16" y="98"/>
                    <a:pt x="10" y="60"/>
                    <a:pt x="8" y="22"/>
                  </a:cubicBezTo>
                  <a:cubicBezTo>
                    <a:pt x="7" y="18"/>
                    <a:pt x="5" y="15"/>
                    <a:pt x="4" y="11"/>
                  </a:cubicBezTo>
                  <a:cubicBezTo>
                    <a:pt x="2" y="7"/>
                    <a:pt x="1" y="3"/>
                    <a:pt x="0" y="0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1" name="Freeform 37"/>
            <p:cNvSpPr/>
            <p:nvPr/>
          </p:nvSpPr>
          <p:spPr bwMode="auto">
            <a:xfrm>
              <a:off x="7412038" y="4978400"/>
              <a:ext cx="31750" cy="188913"/>
            </a:xfrm>
            <a:custGeom>
              <a:avLst/>
              <a:gdLst/>
              <a:ahLst/>
              <a:cxnLst/>
              <a:rect l="0" t="0" r="r" b="b"/>
              <a:pathLst>
                <a:path w="8" h="48">
                  <a:moveTo>
                    <a:pt x="0" y="26"/>
                  </a:moveTo>
                  <a:cubicBezTo>
                    <a:pt x="1" y="29"/>
                    <a:pt x="2" y="33"/>
                    <a:pt x="4" y="37"/>
                  </a:cubicBezTo>
                  <a:cubicBezTo>
                    <a:pt x="5" y="41"/>
                    <a:pt x="7" y="44"/>
                    <a:pt x="8" y="48"/>
                  </a:cubicBezTo>
                  <a:cubicBezTo>
                    <a:pt x="7" y="38"/>
                    <a:pt x="7" y="28"/>
                    <a:pt x="7" y="19"/>
                  </a:cubicBezTo>
                  <a:cubicBezTo>
                    <a:pt x="5" y="12"/>
                    <a:pt x="3" y="6"/>
                    <a:pt x="0" y="0"/>
                  </a:cubicBezTo>
                  <a:cubicBezTo>
                    <a:pt x="0" y="1"/>
                    <a:pt x="0" y="3"/>
                    <a:pt x="0" y="4"/>
                  </a:cubicBezTo>
                  <a:cubicBezTo>
                    <a:pt x="0" y="11"/>
                    <a:pt x="0" y="19"/>
                    <a:pt x="0" y="26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  <p:sp>
          <p:nvSpPr>
            <p:cNvPr id="22" name="Freeform 38"/>
            <p:cNvSpPr/>
            <p:nvPr/>
          </p:nvSpPr>
          <p:spPr bwMode="auto">
            <a:xfrm>
              <a:off x="7439026" y="5434013"/>
              <a:ext cx="174625" cy="439738"/>
            </a:xfrm>
            <a:custGeom>
              <a:avLst/>
              <a:gdLst/>
              <a:ahLst/>
              <a:cxnLst/>
              <a:rect l="0" t="0" r="r" b="b"/>
              <a:pathLst>
                <a:path w="44" h="111">
                  <a:moveTo>
                    <a:pt x="11" y="28"/>
                  </a:moveTo>
                  <a:cubicBezTo>
                    <a:pt x="7" y="19"/>
                    <a:pt x="4" y="9"/>
                    <a:pt x="0" y="0"/>
                  </a:cubicBezTo>
                  <a:cubicBezTo>
                    <a:pt x="3" y="16"/>
                    <a:pt x="7" y="33"/>
                    <a:pt x="11" y="49"/>
                  </a:cubicBezTo>
                  <a:cubicBezTo>
                    <a:pt x="12" y="52"/>
                    <a:pt x="13" y="55"/>
                    <a:pt x="14" y="58"/>
                  </a:cubicBezTo>
                  <a:cubicBezTo>
                    <a:pt x="22" y="76"/>
                    <a:pt x="30" y="94"/>
                    <a:pt x="39" y="111"/>
                  </a:cubicBezTo>
                  <a:cubicBezTo>
                    <a:pt x="44" y="111"/>
                    <a:pt x="44" y="111"/>
                    <a:pt x="44" y="111"/>
                  </a:cubicBezTo>
                  <a:cubicBezTo>
                    <a:pt x="35" y="92"/>
                    <a:pt x="28" y="72"/>
                    <a:pt x="22" y="52"/>
                  </a:cubicBezTo>
                  <a:cubicBezTo>
                    <a:pt x="18" y="44"/>
                    <a:pt x="15" y="36"/>
                    <a:pt x="11" y="28"/>
                  </a:cubicBezTo>
                  <a:close/>
                </a:path>
              </a:pathLst>
            </a:custGeom>
            <a:solidFill>
              <a:schemeClr val="tx2"/>
            </a:solidFill>
            <a:ln>
              <a:noFill/>
            </a:ln>
          </p:spPr>
        </p:sp>
      </p:grpSp>
      <p:sp>
        <p:nvSpPr>
          <p:cNvPr id="7" name="Rectangle 6"/>
          <p:cNvSpPr/>
          <p:nvPr/>
        </p:nvSpPr>
        <p:spPr>
          <a:xfrm>
            <a:off x="0" y="0"/>
            <a:ext cx="182880" cy="6858000"/>
          </a:xfrm>
          <a:prstGeom prst="rect">
            <a:avLst/>
          </a:prstGeom>
          <a:solidFill>
            <a:schemeClr val="tx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2592924" y="624110"/>
            <a:ext cx="8911687" cy="128089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89212" y="2133600"/>
            <a:ext cx="8915400" cy="38862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361612" y="6130437"/>
            <a:ext cx="1146283" cy="370396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8D794C-AD94-4E95-A0E8-6ECAA6E81C21}" type="datetimeFigureOut">
              <a:rPr lang="es-SV" smtClean="0"/>
              <a:t>26/1/2026</a:t>
            </a:fld>
            <a:endParaRPr lang="es-SV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89212" y="6135808"/>
            <a:ext cx="761999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SV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531812" y="787782"/>
            <a:ext cx="7797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2000">
                <a:solidFill>
                  <a:srgbClr val="FEFFFF"/>
                </a:solidFill>
              </a:defRPr>
            </a:lvl1pPr>
          </a:lstStyle>
          <a:p>
            <a:fld id="{23E5B0E0-839E-4758-89EA-D277CCFF2438}" type="slidenum">
              <a:rPr lang="es-SV" smtClean="0"/>
              <a:t>‹Nº›</a:t>
            </a:fld>
            <a:endParaRPr lang="es-SV"/>
          </a:p>
        </p:txBody>
      </p:sp>
    </p:spTree>
    <p:extLst>
      <p:ext uri="{BB962C8B-B14F-4D97-AF65-F5344CB8AC3E}">
        <p14:creationId xmlns:p14="http://schemas.microsoft.com/office/powerpoint/2010/main" val="3143643723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tx1">
              <a:lumMod val="85000"/>
              <a:lumOff val="15000"/>
            </a:schemeClr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Font typeface="Wingdings 3" charset="2"/>
        <a:buChar char="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B408DAF0-BDEA-418D-8CE4-26907223944B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s-SV" dirty="0"/>
              <a:t>Especialización III:</a:t>
            </a:r>
            <a:br>
              <a:rPr lang="es-SV" dirty="0"/>
            </a:br>
            <a:r>
              <a:rPr lang="es-SV" dirty="0"/>
              <a:t>Lenguaje de Programación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01511063-5799-48EE-AF2F-9E71A8E28DB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s-SV" dirty="0"/>
              <a:t>Programación Creativa</a:t>
            </a:r>
          </a:p>
        </p:txBody>
      </p:sp>
    </p:spTree>
    <p:extLst>
      <p:ext uri="{BB962C8B-B14F-4D97-AF65-F5344CB8AC3E}">
        <p14:creationId xmlns:p14="http://schemas.microsoft.com/office/powerpoint/2010/main" val="3896541772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217075A3-F99C-4CD9-8BB1-82604B21363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 dirty="0"/>
              <a:t>Agenda</a:t>
            </a:r>
            <a:endParaRPr lang="es-SV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C02D5FBF-3BDC-4B8D-B699-F68418E28B7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ES" dirty="0"/>
              <a:t>Presentación</a:t>
            </a:r>
          </a:p>
          <a:p>
            <a:r>
              <a:rPr lang="es-ES" dirty="0"/>
              <a:t>Expectativas y Sugerencias</a:t>
            </a:r>
          </a:p>
          <a:p>
            <a:r>
              <a:rPr lang="es-ES" dirty="0"/>
              <a:t>Reglas</a:t>
            </a:r>
          </a:p>
          <a:p>
            <a:r>
              <a:rPr lang="es-ES" dirty="0"/>
              <a:t>Evaluaciones de la materia</a:t>
            </a:r>
          </a:p>
          <a:p>
            <a:r>
              <a:rPr lang="es-ES" dirty="0"/>
              <a:t>Dudas y Comentarios</a:t>
            </a:r>
          </a:p>
          <a:p>
            <a:r>
              <a:rPr lang="es-ES" dirty="0"/>
              <a:t>Repaso de conceptos</a:t>
            </a:r>
            <a:endParaRPr lang="en-GB" dirty="0"/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8344171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330FD8F-6F6D-47FA-8CFB-7CBD251C2A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601798" y="2552143"/>
            <a:ext cx="8544612" cy="1325563"/>
          </a:xfrm>
        </p:spPr>
        <p:txBody>
          <a:bodyPr/>
          <a:lstStyle/>
          <a:p>
            <a:r>
              <a:rPr lang="es-SV" dirty="0"/>
              <a:t>Expectativas y Sugerencias</a:t>
            </a:r>
          </a:p>
        </p:txBody>
      </p:sp>
    </p:spTree>
    <p:extLst>
      <p:ext uri="{BB962C8B-B14F-4D97-AF65-F5344CB8AC3E}">
        <p14:creationId xmlns:p14="http://schemas.microsoft.com/office/powerpoint/2010/main" val="51016314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8DF9B5D-E0DE-4AC9-9261-7713788E855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Reglas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D7DE4C1A-6753-479C-8FA9-E344D2BF558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GB" b="0" i="0" dirty="0">
                <a:solidFill>
                  <a:srgbClr val="F8FAFF"/>
                </a:solidFill>
                <a:effectLst/>
                <a:latin typeface="quote-cjk-patch"/>
              </a:rPr>
              <a:t>🤝</a:t>
            </a:r>
            <a:r>
              <a:rPr lang="es-SV" dirty="0"/>
              <a:t>Respeto y Tolerancia</a:t>
            </a:r>
          </a:p>
          <a:p>
            <a:r>
              <a:rPr lang="en-GB" b="0" i="0" dirty="0">
                <a:solidFill>
                  <a:srgbClr val="F8FAFF"/>
                </a:solidFill>
                <a:effectLst/>
                <a:latin typeface="quote-cjk-patch"/>
              </a:rPr>
              <a:t>⏰</a:t>
            </a:r>
            <a:r>
              <a:rPr lang="es-SV" dirty="0"/>
              <a:t>Puntualidad: Entrada 7:30pm, Máximo 10 minutos de retraso sin justificación. Asistencia 10% de nota final</a:t>
            </a:r>
          </a:p>
          <a:p>
            <a:r>
              <a:rPr lang="en-GB" b="0" i="0" dirty="0">
                <a:solidFill>
                  <a:srgbClr val="F8FAFF"/>
                </a:solidFill>
                <a:effectLst/>
                <a:latin typeface="quote-cjk-patch"/>
              </a:rPr>
              <a:t>🤝</a:t>
            </a:r>
            <a:r>
              <a:rPr lang="es-SV" dirty="0"/>
              <a:t>Participación Activa</a:t>
            </a:r>
          </a:p>
          <a:p>
            <a:r>
              <a:rPr lang="en-GB" b="0" i="0" dirty="0">
                <a:solidFill>
                  <a:srgbClr val="F8FAFF"/>
                </a:solidFill>
                <a:effectLst/>
                <a:latin typeface="quote-cjk-patch"/>
              </a:rPr>
              <a:t>💻</a:t>
            </a:r>
            <a:r>
              <a:rPr lang="es-SV" dirty="0"/>
              <a:t>Uso de dispositivos – permitido con responsabilidad y respeto</a:t>
            </a:r>
          </a:p>
          <a:p>
            <a:r>
              <a:rPr lang="en-GB" b="0" i="0" dirty="0">
                <a:solidFill>
                  <a:srgbClr val="F8FAFF"/>
                </a:solidFill>
                <a:effectLst/>
                <a:latin typeface="quote-cjk-patch"/>
              </a:rPr>
              <a:t>🗣️</a:t>
            </a:r>
            <a:r>
              <a:rPr lang="es-SV" dirty="0"/>
              <a:t>Colaboración</a:t>
            </a:r>
          </a:p>
          <a:p>
            <a:r>
              <a:rPr lang="en-GB" b="1" i="0" dirty="0">
                <a:solidFill>
                  <a:srgbClr val="F8FAFF"/>
                </a:solidFill>
                <a:effectLst/>
                <a:latin typeface="quote-cjk-patch"/>
              </a:rPr>
              <a:t>🧹</a:t>
            </a:r>
            <a:r>
              <a:rPr lang="en-GB" dirty="0">
                <a:solidFill>
                  <a:srgbClr val="F8FAFF"/>
                </a:solidFill>
                <a:latin typeface="quote-cjk-patch"/>
              </a:rPr>
              <a:t> </a:t>
            </a:r>
            <a:r>
              <a:rPr lang="es-SV" dirty="0"/>
              <a:t>Espacios Limpios</a:t>
            </a:r>
          </a:p>
          <a:p>
            <a:r>
              <a:rPr lang="en-GB" b="0" i="0" dirty="0">
                <a:solidFill>
                  <a:srgbClr val="F8FAFF"/>
                </a:solidFill>
                <a:effectLst/>
                <a:latin typeface="quote-cjk-patch"/>
              </a:rPr>
              <a:t>⏰</a:t>
            </a:r>
            <a:r>
              <a:rPr lang="es-SV" dirty="0"/>
              <a:t>Cumplimiento de tareas: Entregas en plazos establecidos.</a:t>
            </a:r>
          </a:p>
          <a:p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271936001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05CFEFD3-052A-4EA2-96A5-0BF2B6AC8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Evaluaciones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2AD9573-E3F4-4DDC-8E31-F7807A8BA74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lang="es-SV" dirty="0"/>
              <a:t>Primer Periodo: Hasta semana del 13  al 28  Marzo 50%</a:t>
            </a:r>
          </a:p>
          <a:p>
            <a:pPr lvl="1"/>
            <a:r>
              <a:rPr lang="es-SV" dirty="0"/>
              <a:t>Asistencia 5%</a:t>
            </a:r>
          </a:p>
          <a:p>
            <a:pPr lvl="1"/>
            <a:r>
              <a:rPr lang="es-SV" dirty="0"/>
              <a:t>Primer examen individual 20%</a:t>
            </a:r>
          </a:p>
          <a:p>
            <a:pPr lvl="1"/>
            <a:r>
              <a:rPr lang="es-SV" dirty="0"/>
              <a:t>Primer tarea individual 30% c/u</a:t>
            </a:r>
          </a:p>
          <a:p>
            <a:pPr lvl="1"/>
            <a:r>
              <a:rPr lang="es-SV" dirty="0"/>
              <a:t>Primer tarea grupal 30%</a:t>
            </a:r>
          </a:p>
          <a:p>
            <a:pPr lvl="1"/>
            <a:r>
              <a:rPr lang="es-SV" dirty="0"/>
              <a:t>Segunda tarea grupal 15%</a:t>
            </a:r>
          </a:p>
          <a:p>
            <a:pPr lvl="1"/>
            <a:endParaRPr lang="es-SV" dirty="0"/>
          </a:p>
          <a:p>
            <a:r>
              <a:rPr lang="es-SV" dirty="0"/>
              <a:t>Segundo Periodo: hasta semana 1 al 6 Junio 50%</a:t>
            </a:r>
          </a:p>
          <a:p>
            <a:pPr lvl="1"/>
            <a:r>
              <a:rPr lang="es-SV" dirty="0"/>
              <a:t>Asistencia 5%</a:t>
            </a:r>
          </a:p>
          <a:p>
            <a:pPr lvl="1"/>
            <a:r>
              <a:rPr lang="es-SV" dirty="0"/>
              <a:t>Tercer tarea grupal 15%</a:t>
            </a:r>
          </a:p>
          <a:p>
            <a:pPr lvl="1"/>
            <a:r>
              <a:rPr lang="es-SV" dirty="0"/>
              <a:t>Segundo examen individual 20%</a:t>
            </a:r>
          </a:p>
          <a:p>
            <a:pPr lvl="1"/>
            <a:r>
              <a:rPr lang="es-SV" dirty="0"/>
              <a:t>Segunda tarea individual 10%</a:t>
            </a:r>
          </a:p>
          <a:p>
            <a:pPr lvl="1"/>
            <a:r>
              <a:rPr lang="es-SV" dirty="0"/>
              <a:t>Proyecto Final 50%</a:t>
            </a:r>
          </a:p>
        </p:txBody>
      </p:sp>
    </p:spTree>
    <p:extLst>
      <p:ext uri="{BB962C8B-B14F-4D97-AF65-F5344CB8AC3E}">
        <p14:creationId xmlns:p14="http://schemas.microsoft.com/office/powerpoint/2010/main" val="428389136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4AE98477-3EB3-4289-A142-0F1D31C6CEE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Software requerido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F0AD416-A253-4022-ADAD-F0CBC173F58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2589212" y="2620652"/>
            <a:ext cx="8915400" cy="3290570"/>
          </a:xfrm>
        </p:spPr>
        <p:txBody>
          <a:bodyPr/>
          <a:lstStyle/>
          <a:p>
            <a:r>
              <a:rPr lang="es-SV" dirty="0"/>
              <a:t>Visual Studio </a:t>
            </a:r>
            <a:r>
              <a:rPr lang="es-SV" dirty="0" err="1"/>
              <a:t>Code</a:t>
            </a:r>
            <a:endParaRPr lang="es-SV" dirty="0"/>
          </a:p>
          <a:p>
            <a:r>
              <a:rPr lang="es-SV" dirty="0"/>
              <a:t>Visual Studio con </a:t>
            </a:r>
            <a:r>
              <a:rPr lang="es-SV" dirty="0" err="1"/>
              <a:t>.net</a:t>
            </a:r>
            <a:r>
              <a:rPr lang="es-SV" dirty="0"/>
              <a:t> (versión </a:t>
            </a:r>
            <a:r>
              <a:rPr lang="es-SV" dirty="0" err="1"/>
              <a:t>comunity</a:t>
            </a:r>
            <a:r>
              <a:rPr lang="es-SV" dirty="0"/>
              <a:t>)</a:t>
            </a:r>
          </a:p>
          <a:p>
            <a:r>
              <a:rPr lang="es-SV" dirty="0"/>
              <a:t>Software Git (de su preferencia)</a:t>
            </a:r>
          </a:p>
        </p:txBody>
      </p:sp>
    </p:spTree>
    <p:extLst>
      <p:ext uri="{BB962C8B-B14F-4D97-AF65-F5344CB8AC3E}">
        <p14:creationId xmlns:p14="http://schemas.microsoft.com/office/powerpoint/2010/main" val="1307288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AEB28D8A-E706-4DFB-B9F8-43D50B797A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4A926E0-9E3B-44C6-A614-D14D33B5089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la POO?</a:t>
            </a:r>
          </a:p>
          <a:p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La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Programación Orientada a Objetos (POO)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paradigma de programación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que organiza el código alrededor de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objetos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en lugar de funciones y lógica. Los objetos representan entidades del mundo real con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estado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(atributos) y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comportamiento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(métodos).</a:t>
            </a:r>
          </a:p>
          <a:p>
            <a:endParaRPr lang="es-SV" dirty="0">
              <a:solidFill>
                <a:srgbClr val="0F1115"/>
              </a:solidFill>
              <a:latin typeface="quote-cjk-patch"/>
            </a:endParaRPr>
          </a:p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una CLASE?</a:t>
            </a:r>
          </a:p>
          <a:p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clase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plantilla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o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molde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que define la estructura y comportamiento de los objetos. Es como un "planos de construcción" para crear objetos.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424067644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32E97D4-9C9D-4E3A-ADA1-99AC9F975E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ABA12A96-9AF6-41F4-BE02-507EC396BE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un OBJETO?</a:t>
            </a:r>
          </a:p>
          <a:p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objeto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instancia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concreta de una clase. Es la "cosa real" creada a partir del molde/clase.</a:t>
            </a:r>
          </a:p>
          <a:p>
            <a:endParaRPr lang="es-SV" dirty="0">
              <a:solidFill>
                <a:srgbClr val="0F1115"/>
              </a:solidFill>
              <a:latin typeface="quote-cjk-patch"/>
            </a:endParaRPr>
          </a:p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una ENTIDAD?</a:t>
            </a:r>
          </a:p>
          <a:p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entidad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 objeto que representa algo del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mundo real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en el sistema. Tiene identidad única y ciclo de vida.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416604457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6FD1B07-B401-4927-A429-A7755CE6F9D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SV" dirty="0"/>
              <a:t>Repaso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3AA62B61-DAA6-4E91-8ED5-7BC320BC6CE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un ATRIBUTO?</a:t>
            </a:r>
          </a:p>
          <a:p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atributo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(o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propiedad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) es 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característica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o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dato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que describe el estado de un objeto.</a:t>
            </a:r>
          </a:p>
          <a:p>
            <a:endParaRPr lang="es-SV" dirty="0">
              <a:solidFill>
                <a:srgbClr val="0F1115"/>
              </a:solidFill>
              <a:latin typeface="quote-cjk-patch"/>
            </a:endParaRPr>
          </a:p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 ¿Qué es un MÉTODO?</a:t>
            </a:r>
          </a:p>
          <a:p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Un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método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una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acción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o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comportamiento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que puede realizar un objeto.</a:t>
            </a:r>
          </a:p>
          <a:p>
            <a:endParaRPr lang="es-SV" dirty="0">
              <a:solidFill>
                <a:srgbClr val="0F1115"/>
              </a:solidFill>
              <a:latin typeface="quote-cjk-patch"/>
            </a:endParaRPr>
          </a:p>
          <a:p>
            <a:r>
              <a:rPr lang="es-SV" b="1" dirty="0">
                <a:solidFill>
                  <a:srgbClr val="0F1115"/>
                </a:solidFill>
                <a:effectLst/>
                <a:latin typeface="quote-cjk-patch"/>
              </a:rPr>
              <a:t>¿Qué es un CONSTRUCTOR?</a:t>
            </a:r>
          </a:p>
          <a:p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El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constructor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es un método especial que se ejecuta automáticamente al crear un objeto. </a:t>
            </a:r>
            <a:r>
              <a:rPr lang="es-SV" b="1" i="0" dirty="0">
                <a:solidFill>
                  <a:srgbClr val="0F1115"/>
                </a:solidFill>
                <a:effectLst/>
                <a:latin typeface="quote-cjk-patch"/>
              </a:rPr>
              <a:t>Inicializa</a:t>
            </a:r>
            <a:r>
              <a:rPr lang="es-SV" b="0" i="0" dirty="0">
                <a:solidFill>
                  <a:srgbClr val="0F1115"/>
                </a:solidFill>
                <a:effectLst/>
                <a:latin typeface="quote-cjk-patch"/>
              </a:rPr>
              <a:t> el objeto.</a:t>
            </a:r>
            <a:endParaRPr lang="es-SV" dirty="0"/>
          </a:p>
        </p:txBody>
      </p:sp>
    </p:spTree>
    <p:extLst>
      <p:ext uri="{BB962C8B-B14F-4D97-AF65-F5344CB8AC3E}">
        <p14:creationId xmlns:p14="http://schemas.microsoft.com/office/powerpoint/2010/main" val="74008860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Espiral">
  <a:themeElements>
    <a:clrScheme name="Espiral">
      <a:dk1>
        <a:sysClr val="windowText" lastClr="000000"/>
      </a:dk1>
      <a:lt1>
        <a:sysClr val="window" lastClr="FFFFFF"/>
      </a:lt1>
      <a:dk2>
        <a:srgbClr val="766F54"/>
      </a:dk2>
      <a:lt2>
        <a:srgbClr val="E3EACF"/>
      </a:lt2>
      <a:accent1>
        <a:srgbClr val="A53010"/>
      </a:accent1>
      <a:accent2>
        <a:srgbClr val="DE7E18"/>
      </a:accent2>
      <a:accent3>
        <a:srgbClr val="9F8351"/>
      </a:accent3>
      <a:accent4>
        <a:srgbClr val="728653"/>
      </a:accent4>
      <a:accent5>
        <a:srgbClr val="92AA4C"/>
      </a:accent5>
      <a:accent6>
        <a:srgbClr val="6AAC91"/>
      </a:accent6>
      <a:hlink>
        <a:srgbClr val="FB4A18"/>
      </a:hlink>
      <a:folHlink>
        <a:srgbClr val="FB9318"/>
      </a:folHlink>
    </a:clrScheme>
    <a:fontScheme name="Espiral">
      <a:maj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HY중고딕"/>
        <a:font script="Hans" typeface="幼圆"/>
        <a:font script="Hant" typeface="微軟正黑體"/>
        <a:font script="Arab" typeface="Tahoma"/>
        <a:font script="Hebr" typeface="Gisha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Espiral">
      <a:fillStyleLst>
        <a:solidFill>
          <a:schemeClr val="phClr"/>
        </a:solidFill>
        <a:solidFill>
          <a:schemeClr val="phClr">
            <a:tint val="70000"/>
            <a:lumMod val="104000"/>
          </a:schemeClr>
        </a:solidFill>
        <a:gradFill rotWithShape="1">
          <a:gsLst>
            <a:gs pos="0">
              <a:schemeClr val="phClr">
                <a:tint val="96000"/>
                <a:lumMod val="104000"/>
              </a:schemeClr>
            </a:gs>
            <a:gs pos="100000">
              <a:schemeClr val="phClr">
                <a:shade val="98000"/>
                <a:lumMod val="9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>
              <a:shade val="9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2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60000"/>
              </a:srgbClr>
            </a:outerShdw>
          </a:effectLst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satMod val="92000"/>
                <a:lumMod val="120000"/>
              </a:schemeClr>
            </a:gs>
            <a:gs pos="100000">
              <a:schemeClr val="phClr">
                <a:shade val="98000"/>
                <a:satMod val="120000"/>
                <a:lumMod val="98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Wisp" id="{7CB32D59-10C0-40DD-B7BD-2E94284A981C}" vid="{24B1A44C-C006-48B2-A4D7-E5549B3D8CD4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EE347DCB393C534F9161A6E8941C3DD8" ma:contentTypeVersion="0" ma:contentTypeDescription="Crear nuevo documento." ma:contentTypeScope="" ma:versionID="d438951d708b6f9048825fc6004f0410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26ff3a126252e742cc2543983a566b0e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Tipo de contenido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D5ED536F-9299-4417-9C2D-63D0399E4C46}"/>
</file>

<file path=customXml/itemProps2.xml><?xml version="1.0" encoding="utf-8"?>
<ds:datastoreItem xmlns:ds="http://schemas.openxmlformats.org/officeDocument/2006/customXml" ds:itemID="{CB1D609E-C6A2-4E9A-BE89-A5700F6B2D0B}"/>
</file>

<file path=customXml/itemProps3.xml><?xml version="1.0" encoding="utf-8"?>
<ds:datastoreItem xmlns:ds="http://schemas.openxmlformats.org/officeDocument/2006/customXml" ds:itemID="{00DFE55D-29C9-4167-90BC-7B2A6664AAA8}"/>
</file>

<file path=docProps/app.xml><?xml version="1.0" encoding="utf-8"?>
<Properties xmlns="http://schemas.openxmlformats.org/officeDocument/2006/extended-properties" xmlns:vt="http://schemas.openxmlformats.org/officeDocument/2006/docPropsVTypes">
  <Template>Wisp</Template>
  <TotalTime>31</TotalTime>
  <Words>391</Words>
  <Application>Microsoft Office PowerPoint</Application>
  <PresentationFormat>Panorámica</PresentationFormat>
  <Paragraphs>57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Century Gothic</vt:lpstr>
      <vt:lpstr>quote-cjk-patch</vt:lpstr>
      <vt:lpstr>Wingdings 3</vt:lpstr>
      <vt:lpstr>Espiral</vt:lpstr>
      <vt:lpstr>Especialización III: Lenguaje de Programación</vt:lpstr>
      <vt:lpstr>Agenda</vt:lpstr>
      <vt:lpstr>Expectativas y Sugerencias</vt:lpstr>
      <vt:lpstr>Reglas</vt:lpstr>
      <vt:lpstr>Evaluaciones</vt:lpstr>
      <vt:lpstr>Software requerido</vt:lpstr>
      <vt:lpstr>Repaso</vt:lpstr>
      <vt:lpstr>Repaso</vt:lpstr>
      <vt:lpstr>Repaso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Especialización III: Lenguaje de Programación</dc:title>
  <dc:creator>Cesar Palacios</dc:creator>
  <cp:lastModifiedBy>Cesar Palacios</cp:lastModifiedBy>
  <cp:revision>8</cp:revision>
  <dcterms:created xsi:type="dcterms:W3CDTF">2026-01-26T08:26:29Z</dcterms:created>
  <dcterms:modified xsi:type="dcterms:W3CDTF">2026-01-27T00:12:51Z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0x010100EE347DCB393C534F9161A6E8941C3DD8</vt:lpwstr>
  </property>
</Properties>
</file>