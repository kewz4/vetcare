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7" r:id="rId8"/>
    <p:sldId id="266" r:id="rId9"/>
    <p:sldId id="264" r:id="rId10"/>
    <p:sldId id="263" r:id="rId11"/>
    <p:sldId id="261" r:id="rId12"/>
    <p:sldId id="262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08D-12DC-4141-9BE2-13C55F1FA4F9}" type="datetimeFigureOut">
              <a:rPr lang="es-SV" smtClean="0"/>
              <a:t>6/4/2026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DF4F4-2C66-4E61-B4C1-F52976E7E461}" type="slidenum">
              <a:rPr lang="es-SV" smtClean="0"/>
              <a:t>‹Nº›</a:t>
            </a:fld>
            <a:endParaRPr lang="es-SV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73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08D-12DC-4141-9BE2-13C55F1FA4F9}" type="datetimeFigureOut">
              <a:rPr lang="es-SV" smtClean="0"/>
              <a:t>6/4/2026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DF4F4-2C66-4E61-B4C1-F52976E7E46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151092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08D-12DC-4141-9BE2-13C55F1FA4F9}" type="datetimeFigureOut">
              <a:rPr lang="es-SV" smtClean="0"/>
              <a:t>6/4/2026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DF4F4-2C66-4E61-B4C1-F52976E7E461}" type="slidenum">
              <a:rPr lang="es-SV" smtClean="0"/>
              <a:t>‹Nº›</a:t>
            </a:fld>
            <a:endParaRPr lang="es-SV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032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08D-12DC-4141-9BE2-13C55F1FA4F9}" type="datetimeFigureOut">
              <a:rPr lang="es-SV" smtClean="0"/>
              <a:t>6/4/2026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DF4F4-2C66-4E61-B4C1-F52976E7E46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737492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08D-12DC-4141-9BE2-13C55F1FA4F9}" type="datetimeFigureOut">
              <a:rPr lang="es-SV" smtClean="0"/>
              <a:t>6/4/2026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DF4F4-2C66-4E61-B4C1-F52976E7E46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98065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08D-12DC-4141-9BE2-13C55F1FA4F9}" type="datetimeFigureOut">
              <a:rPr lang="es-SV" smtClean="0"/>
              <a:t>6/4/2026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DF4F4-2C66-4E61-B4C1-F52976E7E46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201429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08D-12DC-4141-9BE2-13C55F1FA4F9}" type="datetimeFigureOut">
              <a:rPr lang="es-SV" smtClean="0"/>
              <a:t>6/4/2026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DF4F4-2C66-4E61-B4C1-F52976E7E46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94453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20108D-12DC-4141-9BE2-13C55F1FA4F9}" type="datetimeFigureOut">
              <a:rPr lang="es-SV" smtClean="0"/>
              <a:t>6/4/2026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6DF4F4-2C66-4E61-B4C1-F52976E7E46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523803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08D-12DC-4141-9BE2-13C55F1FA4F9}" type="datetimeFigureOut">
              <a:rPr lang="es-SV" smtClean="0"/>
              <a:t>6/4/2026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DF4F4-2C66-4E61-B4C1-F52976E7E46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003876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08D-12DC-4141-9BE2-13C55F1FA4F9}" type="datetimeFigureOut">
              <a:rPr lang="es-SV" smtClean="0"/>
              <a:t>6/4/2026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DF4F4-2C66-4E61-B4C1-F52976E7E46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508344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08D-12DC-4141-9BE2-13C55F1FA4F9}" type="datetimeFigureOut">
              <a:rPr lang="es-SV" smtClean="0"/>
              <a:t>6/4/2026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DF4F4-2C66-4E61-B4C1-F52976E7E46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110463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20108D-12DC-4141-9BE2-13C55F1FA4F9}" type="datetimeFigureOut">
              <a:rPr lang="es-SV" smtClean="0"/>
              <a:t>6/4/2026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6DF4F4-2C66-4E61-B4C1-F52976E7E461}" type="slidenum">
              <a:rPr lang="es-SV" smtClean="0"/>
              <a:t>‹Nº›</a:t>
            </a:fld>
            <a:endParaRPr lang="es-SV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668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otnetfiddle.net/GLcqI7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fiddle.net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linqpad.ne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D02C9-CF0F-48C3-8775-28988E93DF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SV" dirty="0"/>
              <a:t>Especialización III:</a:t>
            </a:r>
            <a:br>
              <a:rPr lang="es-SV" dirty="0"/>
            </a:br>
            <a:r>
              <a:rPr lang="es-SV" dirty="0"/>
              <a:t>Lenguaje de Programación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B32FDD-B44F-43D3-B2A4-DAF7D6BBBB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SV" dirty="0"/>
              <a:t>Programación Creativa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96144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54F0F-5072-48E1-8D8E-A5110F22C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Proyecto Final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3FBBEE-96A5-42D4-A571-BFCB6EC76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Revisión de temas por grupo.</a:t>
            </a:r>
          </a:p>
          <a:p>
            <a:endParaRPr lang="es-SV" dirty="0"/>
          </a:p>
          <a:p>
            <a:endParaRPr lang="es-SV" dirty="0"/>
          </a:p>
          <a:p>
            <a:r>
              <a:rPr lang="es-SV" dirty="0"/>
              <a:t>Presentar lista de integrantes.</a:t>
            </a:r>
          </a:p>
          <a:p>
            <a:r>
              <a:rPr lang="es-SV" dirty="0"/>
              <a:t>Proyecto – Nombre , Descripción / Alcance.</a:t>
            </a:r>
          </a:p>
        </p:txBody>
      </p:sp>
    </p:spTree>
    <p:extLst>
      <p:ext uri="{BB962C8B-B14F-4D97-AF65-F5344CB8AC3E}">
        <p14:creationId xmlns:p14="http://schemas.microsoft.com/office/powerpoint/2010/main" val="35305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4508C9-FA31-49A1-9D51-A1E944C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8193"/>
            <a:ext cx="10515600" cy="1325563"/>
          </a:xfrm>
        </p:spPr>
        <p:txBody>
          <a:bodyPr/>
          <a:lstStyle/>
          <a:p>
            <a:pPr algn="ctr"/>
            <a:r>
              <a:rPr lang="es-SV" dirty="0"/>
              <a:t>Manejo de Errores</a:t>
            </a:r>
          </a:p>
        </p:txBody>
      </p:sp>
    </p:spTree>
    <p:extLst>
      <p:ext uri="{BB962C8B-B14F-4D97-AF65-F5344CB8AC3E}">
        <p14:creationId xmlns:p14="http://schemas.microsoft.com/office/powerpoint/2010/main" val="3989712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6F9B8-931D-4694-AD41-50025BF4B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Excepciones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1A1D9B-EB89-41AF-BECF-672EC1E75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sz="2400" dirty="0"/>
              <a:t> ¿Qué son las Excepciones?</a:t>
            </a:r>
          </a:p>
          <a:p>
            <a:pPr marL="0" indent="0">
              <a:buNone/>
            </a:pPr>
            <a:r>
              <a:rPr lang="es-SV" sz="2400" dirty="0"/>
              <a:t>Una excepción es un error que ocurre durante la ejecución de un programa.</a:t>
            </a:r>
          </a:p>
          <a:p>
            <a:endParaRPr lang="es-SV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C9B28BD-D13C-44E2-8A5B-F014D5B97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964" y="3450605"/>
            <a:ext cx="4671465" cy="142506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1AA2883-F279-41A3-9C49-B2DA56E97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242" y="3048528"/>
            <a:ext cx="7783670" cy="237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842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590EF7-0D39-4B53-A2AC-149B120FD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Resultado de los errores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571BF-99AE-42BB-A0AE-470EA3566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SV" sz="2800" dirty="0"/>
          </a:p>
          <a:p>
            <a:endParaRPr lang="es-SV" sz="2800" dirty="0"/>
          </a:p>
          <a:p>
            <a:r>
              <a:rPr lang="es-SV" sz="2800" dirty="0"/>
              <a:t>El programa CRASH → Se cierra → Usuario frustrado 😠</a:t>
            </a:r>
          </a:p>
          <a:p>
            <a:endParaRPr lang="es-SV" sz="2800" dirty="0"/>
          </a:p>
          <a:p>
            <a:r>
              <a:rPr lang="es-SV" sz="2400" dirty="0"/>
              <a:t>El programa CAPTURA el error → Muestra mensaje → Continúa funcionando ✅</a:t>
            </a:r>
          </a:p>
          <a:p>
            <a:endParaRPr lang="es-SV" dirty="0"/>
          </a:p>
          <a:p>
            <a:endParaRPr lang="es-SV" dirty="0"/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142164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0C10A-7D9D-4DBA-8382-200B14DDF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 Estructura Try-Catch-</a:t>
            </a:r>
            <a:r>
              <a:rPr lang="es-SV" dirty="0" err="1"/>
              <a:t>Finally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F17C99-2A49-48D6-BC25-DFE651373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7106" y="1845734"/>
            <a:ext cx="3908574" cy="4496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SV" sz="1200" dirty="0"/>
              <a:t>try</a:t>
            </a:r>
          </a:p>
          <a:p>
            <a:r>
              <a:rPr lang="es-SV" sz="1200" dirty="0"/>
              <a:t>{</a:t>
            </a:r>
          </a:p>
          <a:p>
            <a:r>
              <a:rPr lang="es-SV" sz="1200" dirty="0"/>
              <a:t>    // Código que PUEDE fallar</a:t>
            </a:r>
          </a:p>
          <a:p>
            <a:r>
              <a:rPr lang="es-SV" sz="1200" dirty="0"/>
              <a:t>}</a:t>
            </a:r>
          </a:p>
          <a:p>
            <a:r>
              <a:rPr lang="es-SV" sz="1200" dirty="0"/>
              <a:t>catch (</a:t>
            </a:r>
            <a:r>
              <a:rPr lang="es-SV" sz="1200" dirty="0" err="1"/>
              <a:t>TipoExcepcion</a:t>
            </a:r>
            <a:r>
              <a:rPr lang="es-SV" sz="1200" dirty="0"/>
              <a:t> ex)</a:t>
            </a:r>
          </a:p>
          <a:p>
            <a:r>
              <a:rPr lang="es-SV" sz="1200" dirty="0"/>
              <a:t>{</a:t>
            </a:r>
          </a:p>
          <a:p>
            <a:r>
              <a:rPr lang="es-SV" sz="1200" dirty="0"/>
              <a:t>    // Código que se ejecuta SI ocurre ese error</a:t>
            </a:r>
          </a:p>
          <a:p>
            <a:r>
              <a:rPr lang="es-SV" sz="1200" dirty="0"/>
              <a:t>    </a:t>
            </a:r>
            <a:r>
              <a:rPr lang="es-SV" sz="1200" dirty="0" err="1"/>
              <a:t>Console.WriteLine</a:t>
            </a:r>
            <a:r>
              <a:rPr lang="es-SV" sz="1200" dirty="0"/>
              <a:t>($"Error: {</a:t>
            </a:r>
            <a:r>
              <a:rPr lang="es-SV" sz="1200" dirty="0" err="1"/>
              <a:t>ex.Message</a:t>
            </a:r>
            <a:r>
              <a:rPr lang="es-SV" sz="1200" dirty="0"/>
              <a:t>}");</a:t>
            </a:r>
          </a:p>
          <a:p>
            <a:r>
              <a:rPr lang="es-SV" sz="1200" dirty="0"/>
              <a:t>}</a:t>
            </a:r>
          </a:p>
          <a:p>
            <a:r>
              <a:rPr lang="es-SV" sz="1200" dirty="0" err="1"/>
              <a:t>finally</a:t>
            </a:r>
            <a:endParaRPr lang="es-SV" sz="1200" dirty="0"/>
          </a:p>
          <a:p>
            <a:r>
              <a:rPr lang="es-SV" sz="1200" dirty="0"/>
              <a:t>{</a:t>
            </a:r>
          </a:p>
          <a:p>
            <a:r>
              <a:rPr lang="es-SV" sz="1200" dirty="0"/>
              <a:t>// Útil para cerrar archivos, conexiones, etc.</a:t>
            </a:r>
          </a:p>
          <a:p>
            <a:r>
              <a:rPr lang="es-SV" sz="1200" dirty="0"/>
              <a:t>}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D8BB799-6949-4D0C-A895-E05AD8E57397}"/>
              </a:ext>
            </a:extLst>
          </p:cNvPr>
          <p:cNvSpPr txBox="1"/>
          <p:nvPr/>
        </p:nvSpPr>
        <p:spPr>
          <a:xfrm>
            <a:off x="1097280" y="2033081"/>
            <a:ext cx="55856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/>
              <a:t>Try: Bloque de código donde puede ocurrir un error</a:t>
            </a:r>
          </a:p>
          <a:p>
            <a:endParaRPr lang="es-SV" dirty="0"/>
          </a:p>
          <a:p>
            <a:endParaRPr lang="es-SV" dirty="0"/>
          </a:p>
          <a:p>
            <a:endParaRPr lang="es-SV" dirty="0"/>
          </a:p>
          <a:p>
            <a:r>
              <a:rPr lang="es-SV" dirty="0"/>
              <a:t>Catch: Código que se ejecuta si ocurre un error</a:t>
            </a:r>
          </a:p>
          <a:p>
            <a:endParaRPr lang="es-SV" dirty="0"/>
          </a:p>
          <a:p>
            <a:endParaRPr lang="es-SV" dirty="0"/>
          </a:p>
          <a:p>
            <a:endParaRPr lang="es-SV" dirty="0"/>
          </a:p>
          <a:p>
            <a:r>
              <a:rPr lang="es-SV" dirty="0" err="1"/>
              <a:t>Finally</a:t>
            </a:r>
            <a:r>
              <a:rPr lang="es-SV" dirty="0"/>
              <a:t>: Código que se ejecuta siempre sin importar ocurra o no un error.</a:t>
            </a:r>
          </a:p>
        </p:txBody>
      </p:sp>
    </p:spTree>
    <p:extLst>
      <p:ext uri="{BB962C8B-B14F-4D97-AF65-F5344CB8AC3E}">
        <p14:creationId xmlns:p14="http://schemas.microsoft.com/office/powerpoint/2010/main" val="1247231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EAFF49-8A76-4577-B023-EC504167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Múltiples Catch y Excepciones Personalizadas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36C2E4E-3845-491B-99BE-1BED8B6CF5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9492" y="1865717"/>
            <a:ext cx="5695750" cy="4233868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A3103C3-D8CD-402D-B7C9-D1AAFF4B3D8C}"/>
              </a:ext>
            </a:extLst>
          </p:cNvPr>
          <p:cNvSpPr txBox="1"/>
          <p:nvPr/>
        </p:nvSpPr>
        <p:spPr>
          <a:xfrm>
            <a:off x="9377464" y="5914919"/>
            <a:ext cx="2354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/>
              <a:t>Archivo 01-try </a:t>
            </a:r>
            <a:r>
              <a:rPr lang="es-SV" dirty="0" err="1"/>
              <a:t>catch.cs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721279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CE677-43EF-4986-B88B-78CEA8B94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Crear excepciones personalizadas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5E9B3E-EE0D-46AA-9229-EAD42D142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818849" cy="4023360"/>
          </a:xfrm>
        </p:spPr>
        <p:txBody>
          <a:bodyPr/>
          <a:lstStyle/>
          <a:p>
            <a:r>
              <a:rPr lang="es-SV" dirty="0"/>
              <a:t>También se puede crear Excepciones personalizadas.</a:t>
            </a:r>
          </a:p>
          <a:p>
            <a:endParaRPr lang="es-SV" dirty="0"/>
          </a:p>
          <a:p>
            <a:r>
              <a:rPr lang="es-SV" dirty="0"/>
              <a:t>Creando clases heredando de la clase “</a:t>
            </a:r>
            <a:r>
              <a:rPr lang="es-SV" dirty="0" err="1"/>
              <a:t>Exception</a:t>
            </a:r>
            <a:r>
              <a:rPr lang="es-SV" dirty="0"/>
              <a:t>”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C852B18-7FFD-435C-AF55-3D68C05DC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512" y="2424197"/>
            <a:ext cx="6590394" cy="287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32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27334-E7FC-443C-9524-BC3EDE9E7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Regla de oro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88F08F0-86D9-4C5D-AEE6-33D98E5735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0118" y="1862954"/>
            <a:ext cx="5612052" cy="4435679"/>
          </a:xfrm>
        </p:spPr>
      </p:pic>
    </p:spTree>
    <p:extLst>
      <p:ext uri="{BB962C8B-B14F-4D97-AF65-F5344CB8AC3E}">
        <p14:creationId xmlns:p14="http://schemas.microsoft.com/office/powerpoint/2010/main" val="3500442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FD5AFF-4BC7-4D06-A823-1991FEA60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Excepciones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54270BA0-EA65-4AED-ABB3-D49365819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8868" y="1846263"/>
            <a:ext cx="6814263" cy="4484118"/>
          </a:xfrm>
        </p:spPr>
      </p:pic>
    </p:spTree>
    <p:extLst>
      <p:ext uri="{BB962C8B-B14F-4D97-AF65-F5344CB8AC3E}">
        <p14:creationId xmlns:p14="http://schemas.microsoft.com/office/powerpoint/2010/main" val="1543026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EC3B9-F74D-40D3-A823-58EEB0D1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Ejemplo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AA8E35-4282-4EBA-A420-CD30886E4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s-SV" dirty="0">
                <a:hlinkClick r:id="rId2"/>
              </a:rPr>
            </a:br>
            <a:r>
              <a:rPr lang="es-SV" dirty="0">
                <a:hlinkClick r:id="rId2"/>
              </a:rPr>
              <a:t>https://dotnetfiddle.net/GLcqI7</a:t>
            </a:r>
            <a:endParaRPr lang="es-SV" dirty="0"/>
          </a:p>
          <a:p>
            <a:r>
              <a:rPr lang="es-SV" dirty="0"/>
              <a:t>Ver el ejemplo en el link.</a:t>
            </a:r>
          </a:p>
          <a:p>
            <a:endParaRPr lang="es-SV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F19858E-D942-4367-8BBE-1A7822EFA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251" y="1944201"/>
            <a:ext cx="5576429" cy="403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881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8621B1-2E7C-4D09-BA27-3A28924A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Ejercicio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24B1D8-ACB6-4137-A238-DC7E19FA7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Agregar el manejo de excepciones al archivo 02-Ejercicio1.cs</a:t>
            </a:r>
          </a:p>
          <a:p>
            <a:r>
              <a:rPr lang="es-SV" dirty="0"/>
              <a:t>Lo pueden trabajar en </a:t>
            </a:r>
            <a:r>
              <a:rPr lang="es-SV" dirty="0">
                <a:hlinkClick r:id="rId2"/>
              </a:rPr>
              <a:t>https://dotnetfiddle.net/</a:t>
            </a:r>
            <a:endParaRPr lang="es-SV" dirty="0"/>
          </a:p>
          <a:p>
            <a:endParaRPr lang="es-SV" dirty="0"/>
          </a:p>
          <a:p>
            <a:r>
              <a:rPr lang="es-SV" dirty="0"/>
              <a:t>Con excepciones:</a:t>
            </a:r>
          </a:p>
          <a:p>
            <a:r>
              <a:rPr lang="es-SV" dirty="0"/>
              <a:t>-Evita agregar productos que no están disponibles</a:t>
            </a:r>
          </a:p>
          <a:p>
            <a:r>
              <a:rPr lang="es-SV" dirty="0"/>
              <a:t>-Evita recibir “texto” en el teclado</a:t>
            </a:r>
          </a:p>
          <a:p>
            <a:r>
              <a:rPr lang="es-SV" dirty="0"/>
              <a:t>-Evita mostrar el carrito </a:t>
            </a:r>
            <a:r>
              <a:rPr lang="es-SV" dirty="0" err="1"/>
              <a:t>null</a:t>
            </a:r>
            <a:endParaRPr lang="es-SV" dirty="0"/>
          </a:p>
          <a:p>
            <a:r>
              <a:rPr lang="es-SV" dirty="0"/>
              <a:t>-Evita ingresar monto negativo $ al pagar</a:t>
            </a:r>
          </a:p>
          <a:p>
            <a:pPr marL="0" indent="0">
              <a:buNone/>
            </a:pP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615622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BAD0F-3280-467B-B280-255D4A483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LINQ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E8CBF9-877A-4E0D-81C8-D8D733802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sz="2000" dirty="0"/>
              <a:t>¿ </a:t>
            </a:r>
            <a:r>
              <a:rPr lang="es-SV" dirty="0"/>
              <a:t>Que es LINQ?</a:t>
            </a:r>
          </a:p>
          <a:p>
            <a:pPr marL="0" indent="0">
              <a:buNone/>
            </a:pPr>
            <a:r>
              <a:rPr lang="es-SV" dirty="0"/>
              <a:t> LINQ = </a:t>
            </a:r>
            <a:r>
              <a:rPr lang="es-SV" dirty="0" err="1"/>
              <a:t>Language</a:t>
            </a:r>
            <a:r>
              <a:rPr lang="es-SV" dirty="0"/>
              <a:t> </a:t>
            </a:r>
            <a:r>
              <a:rPr lang="es-SV" dirty="0" err="1"/>
              <a:t>Integrated</a:t>
            </a:r>
            <a:r>
              <a:rPr lang="es-SV" dirty="0"/>
              <a:t> </a:t>
            </a:r>
            <a:r>
              <a:rPr lang="es-SV" dirty="0" err="1"/>
              <a:t>Query</a:t>
            </a:r>
            <a:endParaRPr lang="es-SV" dirty="0"/>
          </a:p>
          <a:p>
            <a:pPr marL="0" indent="0">
              <a:buNone/>
            </a:pPr>
            <a:r>
              <a:rPr lang="es-SV" dirty="0"/>
              <a:t>LINQ es un componente del lenguaje C# que permite realizar consultas sobre colecciones de datos usando una sintaxis similar a SQL, pero integrada directamente en el lenguaje.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endParaRPr lang="es-SV" dirty="0"/>
          </a:p>
          <a:p>
            <a:endParaRPr lang="es-SV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AFF8C4-B39D-4C3C-9880-902C90EC6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915" y="3429000"/>
            <a:ext cx="5582157" cy="283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319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3CE13-169A-4B5F-8044-53DBB3C8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Analogía Simple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32A1BF-C265-4DFB-B8CA-C2855491B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📦 SIN LINQ:</a:t>
            </a:r>
          </a:p>
          <a:p>
            <a:r>
              <a:rPr lang="es-SV" dirty="0"/>
              <a:t>Tienes una caja de 1000 productos y revisas UNO POR UNO manualmente</a:t>
            </a:r>
          </a:p>
          <a:p>
            <a:endParaRPr lang="es-SV" dirty="0"/>
          </a:p>
          <a:p>
            <a:r>
              <a:rPr lang="es-SV" dirty="0"/>
              <a:t>🔍 CON LINQ:</a:t>
            </a:r>
          </a:p>
          <a:p>
            <a:r>
              <a:rPr lang="es-SV" dirty="0"/>
              <a:t>Le dices al sistema "tráeme los productos con precio &gt; 100"</a:t>
            </a:r>
          </a:p>
          <a:p>
            <a:r>
              <a:rPr lang="es-SV" dirty="0"/>
              <a:t>¡El sistema lo hace automáticamente!</a:t>
            </a:r>
          </a:p>
        </p:txBody>
      </p:sp>
    </p:spTree>
    <p:extLst>
      <p:ext uri="{BB962C8B-B14F-4D97-AF65-F5344CB8AC3E}">
        <p14:creationId xmlns:p14="http://schemas.microsoft.com/office/powerpoint/2010/main" val="2883532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39D33A-413C-4F81-B31D-AF776DB87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Los Métodos LINQ más comunes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E63844B-E413-41A0-A007-0FF0E1C57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9487" y="1846263"/>
            <a:ext cx="7528990" cy="4451101"/>
          </a:xfrm>
        </p:spPr>
      </p:pic>
    </p:spTree>
    <p:extLst>
      <p:ext uri="{BB962C8B-B14F-4D97-AF65-F5344CB8AC3E}">
        <p14:creationId xmlns:p14="http://schemas.microsoft.com/office/powerpoint/2010/main" val="1019047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8923ED-B2F6-4A2B-97FA-4C31396FC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Tarea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4E63DC-5EB2-447F-844F-6C44828A1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Instalar </a:t>
            </a:r>
            <a:r>
              <a:rPr lang="es-SV" dirty="0">
                <a:hlinkClick r:id="rId2"/>
              </a:rPr>
              <a:t>https://www.linqpad.net/</a:t>
            </a:r>
            <a:endParaRPr lang="es-SV" dirty="0"/>
          </a:p>
          <a:p>
            <a:endParaRPr lang="es-SV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E711ABE-26A7-40C6-BAEA-D4B11CF87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65" y="2211153"/>
            <a:ext cx="7723762" cy="409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938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E347DCB393C534F9161A6E8941C3DD8" ma:contentTypeVersion="3" ma:contentTypeDescription="Crear nuevo documento." ma:contentTypeScope="" ma:versionID="61512e65a39c8587e39d98605cbaa544">
  <xsd:schema xmlns:xsd="http://www.w3.org/2001/XMLSchema" xmlns:xs="http://www.w3.org/2001/XMLSchema" xmlns:p="http://schemas.microsoft.com/office/2006/metadata/properties" xmlns:ns2="e117c542-0ee9-44bb-82f0-7089e9925f89" targetNamespace="http://schemas.microsoft.com/office/2006/metadata/properties" ma:root="true" ma:fieldsID="26971e7a51303c9b4ea934ce6bd8c03c" ns2:_="">
    <xsd:import namespace="e117c542-0ee9-44bb-82f0-7089e9925f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17c542-0ee9-44bb-82f0-7089e9925f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44AF33B-A5A5-4EA8-81AE-AA343ABFF7E8}"/>
</file>

<file path=customXml/itemProps2.xml><?xml version="1.0" encoding="utf-8"?>
<ds:datastoreItem xmlns:ds="http://schemas.openxmlformats.org/officeDocument/2006/customXml" ds:itemID="{E1CFF540-1E8D-42CA-B735-6889069F0B86}"/>
</file>

<file path=customXml/itemProps3.xml><?xml version="1.0" encoding="utf-8"?>
<ds:datastoreItem xmlns:ds="http://schemas.openxmlformats.org/officeDocument/2006/customXml" ds:itemID="{5363A9BB-FB7F-4303-9D6A-9FBDCB091BC6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69</TotalTime>
  <Words>373</Words>
  <Application>Microsoft Office PowerPoint</Application>
  <PresentationFormat>Panorámica</PresentationFormat>
  <Paragraphs>77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Retrospección</vt:lpstr>
      <vt:lpstr>Especialización III: Lenguaje de Programación</vt:lpstr>
      <vt:lpstr>Proyecto Final</vt:lpstr>
      <vt:lpstr>Manejo de Errores</vt:lpstr>
      <vt:lpstr>Excepciones</vt:lpstr>
      <vt:lpstr>Resultado de los errores</vt:lpstr>
      <vt:lpstr> Estructura Try-Catch-Finally</vt:lpstr>
      <vt:lpstr>Múltiples Catch y Excepciones Personalizadas</vt:lpstr>
      <vt:lpstr>Crear excepciones personalizadas</vt:lpstr>
      <vt:lpstr>Regla de oro</vt:lpstr>
      <vt:lpstr>Excepciones</vt:lpstr>
      <vt:lpstr>Ejemplo</vt:lpstr>
      <vt:lpstr>Ejercicio</vt:lpstr>
      <vt:lpstr>LINQ</vt:lpstr>
      <vt:lpstr>Analogía Simple</vt:lpstr>
      <vt:lpstr>Los Métodos LINQ más comunes</vt:lpstr>
      <vt:lpstr>Tarea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Especialización III: Lenguaje de Programación</dc:title>
  <dc:creator>Cesar Palacios</dc:creator>
  <cp:lastModifiedBy>Cesar Palacios</cp:lastModifiedBy>
  <cp:revision>1</cp:revision>
  <dcterms:created xsi:type="dcterms:W3CDTF">2026-04-06T23:00:21Z</dcterms:created>
  <dcterms:modified xsi:type="dcterms:W3CDTF">2026-04-07T00:09:56Z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0x010100EE347DCB393C534F9161A6E8941C3DD8</vt:lpwstr>
  </property>
</Properties>
</file>