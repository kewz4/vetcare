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84987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93246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22437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0538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3302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0374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07036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80795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03969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3981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6776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87529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969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617442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24212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50483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01174-F816-4AB4-8416-633CBF072ACE}" type="datetimeFigureOut">
              <a:rPr lang="es-SV" smtClean="0"/>
              <a:t>20/4/2026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B5555CD-B948-4D10-B574-76E2186728F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7131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B09C6-A99F-4D5F-9FDD-7FFF82E7E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/>
              <a:t>Especialización III:</a:t>
            </a:r>
            <a:br>
              <a:rPr lang="es-SV" dirty="0"/>
            </a:br>
            <a:r>
              <a:rPr lang="es-SV" dirty="0"/>
              <a:t>Lenguaje de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B25DE3-F955-4C48-AD8D-DA59515B2B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dirty="0"/>
              <a:t>Programación Creativa</a:t>
            </a:r>
          </a:p>
        </p:txBody>
      </p:sp>
    </p:spTree>
    <p:extLst>
      <p:ext uri="{BB962C8B-B14F-4D97-AF65-F5344CB8AC3E}">
        <p14:creationId xmlns:p14="http://schemas.microsoft.com/office/powerpoint/2010/main" val="2989079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9CB2A-CB44-4950-87A4-EF647DDB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Proyectos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18CEAE-0B28-43E6-BF7B-E9E3B3DEE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SV" sz="3200" dirty="0"/>
              <a:t>Pizza Gorditos</a:t>
            </a:r>
          </a:p>
          <a:p>
            <a:r>
              <a:rPr lang="es-SV" sz="3200" dirty="0" err="1"/>
              <a:t>Zonama</a:t>
            </a:r>
            <a:r>
              <a:rPr lang="es-SV" sz="3200" dirty="0"/>
              <a:t> plataforma de compras</a:t>
            </a:r>
          </a:p>
          <a:p>
            <a:r>
              <a:rPr lang="es-SV" sz="3200" dirty="0"/>
              <a:t>Sistema de Gestión de Catálogo</a:t>
            </a:r>
          </a:p>
          <a:p>
            <a:r>
              <a:rPr lang="es-SV" sz="3200" dirty="0" err="1"/>
              <a:t>Gyaup</a:t>
            </a:r>
            <a:endParaRPr lang="es-SV" sz="3200" dirty="0"/>
          </a:p>
          <a:p>
            <a:r>
              <a:rPr lang="es-SV" sz="3200" dirty="0" err="1"/>
              <a:t>Chambly</a:t>
            </a:r>
            <a:r>
              <a:rPr lang="es-SV" sz="3200" dirty="0"/>
              <a:t> – Plataforma de búsqueda de empleo</a:t>
            </a:r>
          </a:p>
        </p:txBody>
      </p:sp>
    </p:spTree>
    <p:extLst>
      <p:ext uri="{BB962C8B-B14F-4D97-AF65-F5344CB8AC3E}">
        <p14:creationId xmlns:p14="http://schemas.microsoft.com/office/powerpoint/2010/main" val="721491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AA17A-E359-4F72-841E-9A0AD0AD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Recomendaciones de trabajo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8D47B7-B6E9-48C5-983A-6945ECE6D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sz="2400" dirty="0"/>
              <a:t>Definir su estructura de base de datos</a:t>
            </a:r>
          </a:p>
          <a:p>
            <a:r>
              <a:rPr lang="es-SV" sz="2400" dirty="0"/>
              <a:t>Diseñar Pantallas de aplicación.</a:t>
            </a:r>
          </a:p>
          <a:p>
            <a:r>
              <a:rPr lang="es-SV" sz="2400" dirty="0"/>
              <a:t>Definir la estructura de tus servicios</a:t>
            </a:r>
          </a:p>
          <a:p>
            <a:r>
              <a:rPr lang="es-SV" sz="2400" dirty="0"/>
              <a:t>Crear servicios, controladores, etc.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288039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EA209-A3D1-462C-873E-BB33BE3F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Archivo de configuración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133052-33E6-4B53-B262-97C35D07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dirty="0"/>
              <a:t>Archivo </a:t>
            </a:r>
            <a:r>
              <a:rPr lang="es-SV" b="1" dirty="0" err="1"/>
              <a:t>appsettings.json</a:t>
            </a:r>
            <a:endParaRPr lang="es-SV" b="1" dirty="0"/>
          </a:p>
          <a:p>
            <a:pPr marL="0" indent="0">
              <a:buNone/>
            </a:pPr>
            <a:r>
              <a:rPr lang="es-SV" dirty="0"/>
              <a:t>Es un archivo de configuración de ASP.NET Core que define los parámetros principales de tu aplicación.</a:t>
            </a:r>
          </a:p>
          <a:p>
            <a:pPr marL="0" indent="0">
              <a:buNone/>
            </a:pPr>
            <a:endParaRPr lang="es-SV" dirty="0"/>
          </a:p>
          <a:p>
            <a:r>
              <a:rPr lang="es-SV" dirty="0" err="1"/>
              <a:t>ConnectionStrings</a:t>
            </a:r>
            <a:r>
              <a:rPr lang="es-SV" dirty="0"/>
              <a:t> (Cadenas de conexión)</a:t>
            </a:r>
          </a:p>
          <a:p>
            <a:pPr lvl="1"/>
            <a:r>
              <a:rPr lang="es-SV" dirty="0"/>
              <a:t>Almacena la información para conectarse a la base de datos</a:t>
            </a:r>
          </a:p>
          <a:p>
            <a:pPr lvl="1"/>
            <a:r>
              <a:rPr lang="es-SV" dirty="0"/>
              <a:t>Host: El servidor donde está alojada la BD</a:t>
            </a:r>
          </a:p>
          <a:p>
            <a:pPr lvl="1"/>
            <a:r>
              <a:rPr lang="es-SV" dirty="0"/>
              <a:t>Port: Numero de puerto 5432 (por defecto de PostgreSQL)</a:t>
            </a:r>
          </a:p>
          <a:p>
            <a:pPr lvl="1"/>
            <a:r>
              <a:rPr lang="es-SV" dirty="0" err="1"/>
              <a:t>Database</a:t>
            </a:r>
            <a:r>
              <a:rPr lang="es-SV" dirty="0"/>
              <a:t>: Nombre de tu BD (</a:t>
            </a:r>
            <a:r>
              <a:rPr lang="es-SV" dirty="0" err="1"/>
              <a:t>mybd_dqwd</a:t>
            </a:r>
            <a:r>
              <a:rPr lang="es-SV" dirty="0"/>
              <a:t>)</a:t>
            </a:r>
          </a:p>
          <a:p>
            <a:pPr lvl="1"/>
            <a:r>
              <a:rPr lang="es-SV" dirty="0" err="1"/>
              <a:t>Username</a:t>
            </a:r>
            <a:r>
              <a:rPr lang="es-SV" dirty="0"/>
              <a:t>/</a:t>
            </a:r>
            <a:r>
              <a:rPr lang="es-SV" dirty="0" err="1"/>
              <a:t>Password</a:t>
            </a:r>
            <a:r>
              <a:rPr lang="es-SV" dirty="0"/>
              <a:t>: Credenciales para acceder a la BD</a:t>
            </a:r>
          </a:p>
        </p:txBody>
      </p:sp>
    </p:spTree>
    <p:extLst>
      <p:ext uri="{BB962C8B-B14F-4D97-AF65-F5344CB8AC3E}">
        <p14:creationId xmlns:p14="http://schemas.microsoft.com/office/powerpoint/2010/main" val="781477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408BD-2A56-44FD-BB37-4C946AD3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Archivo de configuración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49287C-FDA8-47D9-B56D-A9DB1AC8C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SV" dirty="0" err="1"/>
              <a:t>Logging</a:t>
            </a:r>
            <a:r>
              <a:rPr lang="es-SV" dirty="0"/>
              <a:t> (Registro de eventos)</a:t>
            </a:r>
          </a:p>
          <a:p>
            <a:pPr lvl="1"/>
            <a:r>
              <a:rPr lang="es-SV" dirty="0"/>
              <a:t>Default: Registra eventos de nivel "</a:t>
            </a:r>
            <a:r>
              <a:rPr lang="es-SV" dirty="0" err="1"/>
              <a:t>Information</a:t>
            </a:r>
            <a:r>
              <a:rPr lang="es-SV" dirty="0"/>
              <a:t>" y superiores (</a:t>
            </a:r>
            <a:r>
              <a:rPr lang="es-SV" dirty="0" err="1"/>
              <a:t>Information</a:t>
            </a:r>
            <a:r>
              <a:rPr lang="es-SV" dirty="0"/>
              <a:t>, </a:t>
            </a:r>
            <a:r>
              <a:rPr lang="es-SV" dirty="0" err="1"/>
              <a:t>Warning</a:t>
            </a:r>
            <a:r>
              <a:rPr lang="es-SV" dirty="0"/>
              <a:t>, Error, </a:t>
            </a:r>
            <a:r>
              <a:rPr lang="es-SV" dirty="0" err="1"/>
              <a:t>Critical</a:t>
            </a:r>
            <a:r>
              <a:rPr lang="es-SV" dirty="0"/>
              <a:t>)</a:t>
            </a:r>
          </a:p>
          <a:p>
            <a:pPr lvl="1"/>
            <a:r>
              <a:rPr lang="es-SV" dirty="0" err="1"/>
              <a:t>Microsoft.AspNetCore</a:t>
            </a:r>
            <a:r>
              <a:rPr lang="es-SV" dirty="0"/>
              <a:t>: Para mensajes del </a:t>
            </a:r>
            <a:r>
              <a:rPr lang="es-SV" dirty="0" err="1"/>
              <a:t>framework</a:t>
            </a:r>
            <a:r>
              <a:rPr lang="es-SV" dirty="0"/>
              <a:t> ASP.NET solo </a:t>
            </a:r>
            <a:r>
              <a:rPr lang="es-SV" dirty="0" err="1"/>
              <a:t>regista</a:t>
            </a:r>
            <a:r>
              <a:rPr lang="es-SV" dirty="0"/>
              <a:t> "</a:t>
            </a:r>
            <a:r>
              <a:rPr lang="es-SV" dirty="0" err="1"/>
              <a:t>Warning</a:t>
            </a:r>
            <a:r>
              <a:rPr lang="es-SV" dirty="0"/>
              <a:t>" y superiores (menos detallado)</a:t>
            </a:r>
          </a:p>
          <a:p>
            <a:endParaRPr lang="es-SV" dirty="0"/>
          </a:p>
          <a:p>
            <a:r>
              <a:rPr lang="es-SV" dirty="0" err="1"/>
              <a:t>AllowedHosts</a:t>
            </a:r>
            <a:endParaRPr lang="es-SV" dirty="0"/>
          </a:p>
          <a:p>
            <a:pPr lvl="1"/>
            <a:r>
              <a:rPr lang="es-SV" dirty="0"/>
              <a:t>Define qué hosts pueden acceder a la aplicación</a:t>
            </a:r>
          </a:p>
          <a:p>
            <a:pPr lvl="1"/>
            <a:r>
              <a:rPr lang="es-SV" dirty="0"/>
              <a:t>"*" significa que cualquier host/dominio puede conectarse (útil en desarrollo)</a:t>
            </a:r>
          </a:p>
        </p:txBody>
      </p:sp>
    </p:spTree>
    <p:extLst>
      <p:ext uri="{BB962C8B-B14F-4D97-AF65-F5344CB8AC3E}">
        <p14:creationId xmlns:p14="http://schemas.microsoft.com/office/powerpoint/2010/main" val="746904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C9EB6-D487-4165-AC80-35B9D0C91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Archivo </a:t>
            </a:r>
            <a:r>
              <a:rPr lang="es-SV" dirty="0" err="1"/>
              <a:t>Program.cs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0B0CCE-094A-4D9E-B129-2C4EDBCE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dirty="0"/>
              <a:t>Este es el punto de entrada de tu aplicación ASP.NET Core. Aquí se configura todo lo necesario para que funcione</a:t>
            </a:r>
          </a:p>
          <a:p>
            <a:pPr marL="0" indent="0">
              <a:buNone/>
            </a:pPr>
            <a:endParaRPr lang="es-SV" dirty="0"/>
          </a:p>
          <a:p>
            <a:r>
              <a:rPr lang="es-SV" dirty="0" err="1"/>
              <a:t>Builder</a:t>
            </a:r>
            <a:endParaRPr lang="es-SV" dirty="0"/>
          </a:p>
          <a:p>
            <a:pPr lvl="1"/>
            <a:r>
              <a:rPr lang="es-SV" dirty="0"/>
              <a:t>Crea el "constructor" de la aplicación con la configuración base</a:t>
            </a:r>
          </a:p>
          <a:p>
            <a:pPr lvl="1"/>
            <a:r>
              <a:rPr lang="es-SV" dirty="0"/>
              <a:t>Agregar Servicios al Contenedor</a:t>
            </a:r>
          </a:p>
          <a:p>
            <a:pPr lvl="1"/>
            <a:r>
              <a:rPr lang="es-SV" dirty="0"/>
              <a:t>Registra el soporte para </a:t>
            </a:r>
            <a:r>
              <a:rPr lang="es-SV" dirty="0" err="1"/>
              <a:t>Controllers</a:t>
            </a:r>
            <a:r>
              <a:rPr lang="es-SV" dirty="0"/>
              <a:t> y Vistas (</a:t>
            </a:r>
            <a:r>
              <a:rPr lang="es-SV" dirty="0" err="1"/>
              <a:t>Razor</a:t>
            </a:r>
            <a:r>
              <a:rPr lang="es-SV" dirty="0"/>
              <a:t>)</a:t>
            </a:r>
          </a:p>
          <a:p>
            <a:pPr marL="457200" lvl="1" indent="0">
              <a:buNone/>
            </a:pPr>
            <a:endParaRPr lang="es-SV" dirty="0"/>
          </a:p>
          <a:p>
            <a:pPr marL="457200" lvl="1" indent="0" algn="ctr">
              <a:buNone/>
            </a:pPr>
            <a:r>
              <a:rPr lang="es-SV" b="1" i="1" dirty="0" err="1">
                <a:solidFill>
                  <a:schemeClr val="accent1">
                    <a:lumMod val="75000"/>
                  </a:schemeClr>
                </a:solidFill>
              </a:rPr>
              <a:t>builder.Services.AddControllersWithViews</a:t>
            </a:r>
            <a:r>
              <a:rPr lang="es-SV" b="1" i="1" dirty="0">
                <a:solidFill>
                  <a:schemeClr val="accent1">
                    <a:lumMod val="75000"/>
                  </a:schemeClr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345179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D78EC-F60B-4ABE-B839-2C3BFEAE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Archivo </a:t>
            </a:r>
            <a:r>
              <a:rPr lang="es-SV" dirty="0" err="1"/>
              <a:t>Program.cs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4C2019-8EDC-4E6E-97A3-45F4C6F9A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s-SV" dirty="0"/>
              <a:t>Configurar </a:t>
            </a:r>
            <a:r>
              <a:rPr lang="es-SV" dirty="0" err="1"/>
              <a:t>Entity</a:t>
            </a:r>
            <a:r>
              <a:rPr lang="es-SV" dirty="0"/>
              <a:t> Framework Core, para leer la cadena de conexión del </a:t>
            </a:r>
            <a:r>
              <a:rPr lang="es-SV" dirty="0" err="1"/>
              <a:t>appsettings.json</a:t>
            </a:r>
            <a:endParaRPr lang="es-SV" dirty="0"/>
          </a:p>
          <a:p>
            <a:pPr marL="457200" lvl="1" indent="0" algn="ctr">
              <a:buNone/>
            </a:pPr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var </a:t>
            </a:r>
            <a:r>
              <a:rPr lang="en-US" b="1" i="1" dirty="0" err="1">
                <a:solidFill>
                  <a:schemeClr val="accent1">
                    <a:lumMod val="75000"/>
                  </a:schemeClr>
                </a:solidFill>
              </a:rPr>
              <a:t>connectionString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US" b="1" i="1" dirty="0" err="1">
                <a:solidFill>
                  <a:schemeClr val="accent1">
                    <a:lumMod val="75000"/>
                  </a:schemeClr>
                </a:solidFill>
              </a:rPr>
              <a:t>builder.Configuration.GetConnectionString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("</a:t>
            </a:r>
            <a:r>
              <a:rPr lang="en-US" b="1" i="1" dirty="0" err="1">
                <a:solidFill>
                  <a:schemeClr val="accent1">
                    <a:lumMod val="75000"/>
                  </a:schemeClr>
                </a:solidFill>
              </a:rPr>
              <a:t>DefaultConnection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")</a:t>
            </a:r>
          </a:p>
          <a:p>
            <a:pPr lvl="1"/>
            <a:endParaRPr lang="en-US" dirty="0"/>
          </a:p>
          <a:p>
            <a:pPr lvl="1"/>
            <a:r>
              <a:rPr lang="es-SV" dirty="0"/>
              <a:t>Registra </a:t>
            </a:r>
            <a:r>
              <a:rPr lang="es-SV" dirty="0" err="1"/>
              <a:t>AppDbContext</a:t>
            </a:r>
            <a:r>
              <a:rPr lang="es-SV" dirty="0"/>
              <a:t> en el contenedor de inyección de dependencias</a:t>
            </a:r>
          </a:p>
          <a:p>
            <a:pPr marL="457200" lvl="1" indent="0" algn="ctr">
              <a:buNone/>
            </a:pPr>
            <a:r>
              <a:rPr lang="es-SV" b="1" i="1" dirty="0" err="1">
                <a:solidFill>
                  <a:schemeClr val="accent1">
                    <a:lumMod val="75000"/>
                  </a:schemeClr>
                </a:solidFill>
              </a:rPr>
              <a:t>builder.Services.AddDbContext</a:t>
            </a:r>
            <a:r>
              <a:rPr lang="es-SV" b="1" i="1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s-SV" b="1" i="1" dirty="0" err="1">
                <a:solidFill>
                  <a:schemeClr val="accent1">
                    <a:lumMod val="75000"/>
                  </a:schemeClr>
                </a:solidFill>
              </a:rPr>
              <a:t>AppDbContext</a:t>
            </a:r>
            <a:r>
              <a:rPr lang="es-SV" b="1" i="1" dirty="0">
                <a:solidFill>
                  <a:schemeClr val="accent1">
                    <a:lumMod val="75000"/>
                  </a:schemeClr>
                </a:solidFill>
              </a:rPr>
              <a:t>&gt;(</a:t>
            </a:r>
            <a:r>
              <a:rPr lang="es-SV" b="1" i="1" dirty="0" err="1">
                <a:solidFill>
                  <a:schemeClr val="accent1">
                    <a:lumMod val="75000"/>
                  </a:schemeClr>
                </a:solidFill>
              </a:rPr>
              <a:t>options</a:t>
            </a:r>
            <a:r>
              <a:rPr lang="es-SV" b="1" i="1" dirty="0">
                <a:solidFill>
                  <a:schemeClr val="accent1">
                    <a:lumMod val="75000"/>
                  </a:schemeClr>
                </a:solidFill>
              </a:rPr>
              <a:t> =&gt;</a:t>
            </a:r>
          </a:p>
          <a:p>
            <a:pPr marL="457200" lvl="1" indent="0" algn="ctr">
              <a:buNone/>
            </a:pPr>
            <a:r>
              <a:rPr lang="es-SV" b="1" i="1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s-SV" b="1" i="1" dirty="0" err="1">
                <a:solidFill>
                  <a:schemeClr val="accent1">
                    <a:lumMod val="75000"/>
                  </a:schemeClr>
                </a:solidFill>
              </a:rPr>
              <a:t>options.UseNpgsql</a:t>
            </a:r>
            <a:r>
              <a:rPr lang="es-SV" b="1" i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s-SV" b="1" i="1" dirty="0" err="1">
                <a:solidFill>
                  <a:schemeClr val="accent1">
                    <a:lumMod val="75000"/>
                  </a:schemeClr>
                </a:solidFill>
              </a:rPr>
              <a:t>connectionString</a:t>
            </a:r>
            <a:r>
              <a:rPr lang="es-SV" b="1" i="1" dirty="0">
                <a:solidFill>
                  <a:schemeClr val="accent1">
                    <a:lumMod val="75000"/>
                  </a:schemeClr>
                </a:solidFill>
              </a:rPr>
              <a:t>));</a:t>
            </a:r>
          </a:p>
          <a:p>
            <a:pPr lvl="1"/>
            <a:endParaRPr lang="es-SV" dirty="0"/>
          </a:p>
          <a:p>
            <a:pPr lvl="1"/>
            <a:r>
              <a:rPr lang="es-SV" dirty="0"/>
              <a:t>Registrar Servicios Personalizados</a:t>
            </a:r>
          </a:p>
          <a:p>
            <a:pPr marL="457200" lvl="1" indent="0" algn="ctr">
              <a:buNone/>
            </a:pPr>
            <a:r>
              <a:rPr lang="it-IT" b="1" i="1" dirty="0">
                <a:solidFill>
                  <a:schemeClr val="accent1">
                    <a:lumMod val="75000"/>
                  </a:schemeClr>
                </a:solidFill>
              </a:rPr>
              <a:t>builder.Services.AddScoped&lt;IEstudianteService, EstudianteService&gt;();</a:t>
            </a:r>
          </a:p>
          <a:p>
            <a:pPr marL="457200" lvl="1" indent="0" algn="ctr">
              <a:buNone/>
            </a:pPr>
            <a:endParaRPr lang="es-SV" dirty="0"/>
          </a:p>
          <a:p>
            <a:pPr lvl="1"/>
            <a:r>
              <a:rPr lang="es-SV" dirty="0"/>
              <a:t>Crea la aplicación con toda la configuración</a:t>
            </a:r>
          </a:p>
          <a:p>
            <a:pPr marL="457200" lvl="1" indent="0" algn="ctr">
              <a:buNone/>
            </a:pPr>
            <a:r>
              <a:rPr lang="es-SV" b="1" i="1" dirty="0" err="1">
                <a:solidFill>
                  <a:schemeClr val="accent1">
                    <a:lumMod val="75000"/>
                  </a:schemeClr>
                </a:solidFill>
              </a:rPr>
              <a:t>var</a:t>
            </a:r>
            <a:r>
              <a:rPr lang="es-SV" b="1" i="1" dirty="0">
                <a:solidFill>
                  <a:schemeClr val="accent1">
                    <a:lumMod val="75000"/>
                  </a:schemeClr>
                </a:solidFill>
              </a:rPr>
              <a:t> app = </a:t>
            </a:r>
            <a:r>
              <a:rPr lang="es-SV" b="1" i="1" dirty="0" err="1">
                <a:solidFill>
                  <a:schemeClr val="accent1">
                    <a:lumMod val="75000"/>
                  </a:schemeClr>
                </a:solidFill>
              </a:rPr>
              <a:t>builder.Build</a:t>
            </a:r>
            <a:r>
              <a:rPr lang="es-SV" b="1" i="1" dirty="0">
                <a:solidFill>
                  <a:schemeClr val="accent1">
                    <a:lumMod val="75000"/>
                  </a:schemeClr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531560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4867B-972F-4CAA-AAF9-E06F58C9E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Archivo </a:t>
            </a:r>
            <a:r>
              <a:rPr lang="es-SV" dirty="0" err="1"/>
              <a:t>Program.cs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51190-FD73-4B8E-9749-F3E05E6A8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Configuración del Pipeline HTTP</a:t>
            </a:r>
          </a:p>
          <a:p>
            <a:pPr marL="457200" lvl="1" indent="0">
              <a:buNone/>
            </a:pPr>
            <a:r>
              <a:rPr lang="es-SV" b="1" i="1" dirty="0" err="1">
                <a:solidFill>
                  <a:schemeClr val="accent1">
                    <a:lumMod val="75000"/>
                  </a:schemeClr>
                </a:solidFill>
              </a:rPr>
              <a:t>app.UseHttpsRedirection</a:t>
            </a:r>
            <a:r>
              <a:rPr lang="es-SV" b="1" i="1" dirty="0">
                <a:solidFill>
                  <a:schemeClr val="accent1">
                    <a:lumMod val="75000"/>
                  </a:schemeClr>
                </a:solidFill>
              </a:rPr>
              <a:t>();  </a:t>
            </a:r>
            <a:r>
              <a:rPr lang="es-SV" dirty="0"/>
              <a:t>// Redirige HTTP → HTTPS</a:t>
            </a:r>
          </a:p>
          <a:p>
            <a:pPr marL="457200" lvl="1" indent="0">
              <a:buNone/>
            </a:pPr>
            <a:r>
              <a:rPr lang="es-SV" b="1" i="1" dirty="0" err="1">
                <a:solidFill>
                  <a:schemeClr val="accent1">
                    <a:lumMod val="75000"/>
                  </a:schemeClr>
                </a:solidFill>
              </a:rPr>
              <a:t>app.UseRouting</a:t>
            </a:r>
            <a:r>
              <a:rPr lang="es-SV" b="1" i="1" dirty="0">
                <a:solidFill>
                  <a:schemeClr val="accent1">
                    <a:lumMod val="75000"/>
                  </a:schemeClr>
                </a:solidFill>
              </a:rPr>
              <a:t>();           </a:t>
            </a:r>
            <a:r>
              <a:rPr lang="es-SV" dirty="0"/>
              <a:t>// Activa el enrutamiento</a:t>
            </a:r>
          </a:p>
          <a:p>
            <a:pPr marL="457200" lvl="1" indent="0">
              <a:buNone/>
            </a:pPr>
            <a:r>
              <a:rPr lang="es-SV" b="1" i="1" dirty="0" err="1">
                <a:solidFill>
                  <a:schemeClr val="accent1">
                    <a:lumMod val="75000"/>
                  </a:schemeClr>
                </a:solidFill>
              </a:rPr>
              <a:t>app.UseAuthorization</a:t>
            </a:r>
            <a:r>
              <a:rPr lang="es-SV" b="1" i="1" dirty="0">
                <a:solidFill>
                  <a:schemeClr val="accent1">
                    <a:lumMod val="75000"/>
                  </a:schemeClr>
                </a:solidFill>
              </a:rPr>
              <a:t>();     </a:t>
            </a:r>
            <a:r>
              <a:rPr lang="es-SV" dirty="0"/>
              <a:t>// Valida permisos</a:t>
            </a:r>
          </a:p>
          <a:p>
            <a:pPr marL="457200" lvl="1" indent="0">
              <a:buNone/>
            </a:pPr>
            <a:r>
              <a:rPr lang="es-SV" b="1" i="1" dirty="0" err="1">
                <a:solidFill>
                  <a:schemeClr val="accent1">
                    <a:lumMod val="75000"/>
                  </a:schemeClr>
                </a:solidFill>
              </a:rPr>
              <a:t>app.MapStaticAssets</a:t>
            </a:r>
            <a:r>
              <a:rPr lang="es-SV" b="1" i="1" dirty="0">
                <a:solidFill>
                  <a:schemeClr val="accent1">
                    <a:lumMod val="75000"/>
                  </a:schemeClr>
                </a:solidFill>
              </a:rPr>
              <a:t>();      </a:t>
            </a:r>
            <a:r>
              <a:rPr lang="es-SV" dirty="0"/>
              <a:t>// Sirve archivos estáticos (CSS, JS)</a:t>
            </a:r>
          </a:p>
        </p:txBody>
      </p:sp>
    </p:spTree>
    <p:extLst>
      <p:ext uri="{BB962C8B-B14F-4D97-AF65-F5344CB8AC3E}">
        <p14:creationId xmlns:p14="http://schemas.microsoft.com/office/powerpoint/2010/main" val="855612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2D664-CA74-47A4-BDCF-15613C259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Tabla Materias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CDB753-6DAB-49D8-AE93-D4450AC4C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3959"/>
            <a:ext cx="8596668" cy="42974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TABLE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public.materias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</a:p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id serial4 NOT NULL,</a:t>
            </a:r>
          </a:p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nombre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varchar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(150) NOT NULL,</a:t>
            </a:r>
          </a:p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codigo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varchar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(50) NOT NULL UNIQUE,</a:t>
            </a:r>
          </a:p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descripcion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NULL,</a:t>
            </a:r>
          </a:p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creditos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int4 DEFAULT 3 NULL,</a:t>
            </a:r>
          </a:p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horas_teorica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int4 DEFAULT 0 NULL,</a:t>
            </a:r>
          </a:p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horas_practica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int4 DEFAULT 0 NULL,</a:t>
            </a:r>
          </a:p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profesor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varchar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(100) NULL,</a:t>
            </a:r>
          </a:p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activa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DEFAULT true NULL,</a:t>
            </a:r>
          </a:p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fecha_creacion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timestamp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DEFAULT CURRENT_TIMESTAMP NULL,</a:t>
            </a:r>
          </a:p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CONSTRAINT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materias_pkey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PRIMARY KEY (id),</a:t>
            </a:r>
          </a:p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CONSTRAINT 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materias_codigo_key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UNIQUE (</a:t>
            </a:r>
            <a:r>
              <a:rPr lang="es-SV" b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codigo</a:t>
            </a: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s-SV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75015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E1535-0EFF-4702-BF7B-66FBC7A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Crear el CRUD para Materias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3D7F14-358A-411A-89FA-EF065B4BF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dirty="0"/>
              <a:t>CRUD : </a:t>
            </a:r>
            <a:r>
              <a:rPr lang="es-SV" dirty="0" err="1"/>
              <a:t>Create</a:t>
            </a:r>
            <a:r>
              <a:rPr lang="es-SV" dirty="0"/>
              <a:t>, </a:t>
            </a:r>
            <a:r>
              <a:rPr lang="es-SV" dirty="0" err="1"/>
              <a:t>read</a:t>
            </a:r>
            <a:r>
              <a:rPr lang="es-SV" dirty="0"/>
              <a:t>, </a:t>
            </a:r>
            <a:r>
              <a:rPr lang="es-SV" dirty="0" err="1"/>
              <a:t>update</a:t>
            </a:r>
            <a:r>
              <a:rPr lang="es-SV" dirty="0"/>
              <a:t> and </a:t>
            </a:r>
            <a:r>
              <a:rPr lang="es-SV" dirty="0" err="1"/>
              <a:t>delete</a:t>
            </a:r>
            <a:endParaRPr lang="es-SV" dirty="0"/>
          </a:p>
          <a:p>
            <a:pPr marL="0" indent="0">
              <a:buNone/>
            </a:pPr>
            <a:endParaRPr lang="es-SV" dirty="0"/>
          </a:p>
          <a:p>
            <a:r>
              <a:rPr lang="es-SV" dirty="0"/>
              <a:t>Crear controlador </a:t>
            </a:r>
            <a:r>
              <a:rPr lang="es-SV" dirty="0" err="1"/>
              <a:t>MateriasController.cs</a:t>
            </a:r>
            <a:endParaRPr lang="es-SV" dirty="0"/>
          </a:p>
          <a:p>
            <a:r>
              <a:rPr lang="es-SV" dirty="0"/>
              <a:t>Crear respectivos </a:t>
            </a:r>
            <a:r>
              <a:rPr lang="es-SV" dirty="0" err="1"/>
              <a:t>DTOs</a:t>
            </a:r>
            <a:endParaRPr lang="es-SV" dirty="0"/>
          </a:p>
          <a:p>
            <a:r>
              <a:rPr lang="es-SV" dirty="0"/>
              <a:t>Crear modelo</a:t>
            </a:r>
          </a:p>
          <a:p>
            <a:r>
              <a:rPr lang="es-SV" dirty="0"/>
              <a:t>Crear servicios</a:t>
            </a:r>
          </a:p>
          <a:p>
            <a:endParaRPr lang="es-SV" dirty="0"/>
          </a:p>
          <a:p>
            <a:pPr marL="0" indent="0">
              <a:buNone/>
            </a:pPr>
            <a:r>
              <a:rPr lang="es-SV" dirty="0"/>
              <a:t>Objetivo: desde su aplicación deben insertar en la tabla un registro de materia.</a:t>
            </a:r>
          </a:p>
        </p:txBody>
      </p:sp>
    </p:spTree>
    <p:extLst>
      <p:ext uri="{BB962C8B-B14F-4D97-AF65-F5344CB8AC3E}">
        <p14:creationId xmlns:p14="http://schemas.microsoft.com/office/powerpoint/2010/main" val="384322899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Violeta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347DCB393C534F9161A6E8941C3DD8" ma:contentTypeVersion="3" ma:contentTypeDescription="Crear nuevo documento." ma:contentTypeScope="" ma:versionID="61512e65a39c8587e39d98605cbaa544">
  <xsd:schema xmlns:xsd="http://www.w3.org/2001/XMLSchema" xmlns:xs="http://www.w3.org/2001/XMLSchema" xmlns:p="http://schemas.microsoft.com/office/2006/metadata/properties" xmlns:ns2="e117c542-0ee9-44bb-82f0-7089e9925f89" targetNamespace="http://schemas.microsoft.com/office/2006/metadata/properties" ma:root="true" ma:fieldsID="26971e7a51303c9b4ea934ce6bd8c03c" ns2:_="">
    <xsd:import namespace="e117c542-0ee9-44bb-82f0-7089e9925f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17c542-0ee9-44bb-82f0-7089e9925f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D37760-43BA-4C03-B642-0ADC29013561}"/>
</file>

<file path=customXml/itemProps2.xml><?xml version="1.0" encoding="utf-8"?>
<ds:datastoreItem xmlns:ds="http://schemas.openxmlformats.org/officeDocument/2006/customXml" ds:itemID="{CD629B9B-1807-407B-86B6-B919A9219FC7}"/>
</file>

<file path=customXml/itemProps3.xml><?xml version="1.0" encoding="utf-8"?>
<ds:datastoreItem xmlns:ds="http://schemas.openxmlformats.org/officeDocument/2006/customXml" ds:itemID="{C4701E51-3963-4C16-80EF-AE257F66F866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</TotalTime>
  <Words>556</Words>
  <Application>Microsoft Office PowerPoint</Application>
  <PresentationFormat>Panorámica</PresentationFormat>
  <Paragraphs>83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Faceta</vt:lpstr>
      <vt:lpstr>Especialización III: Lenguaje de Programación</vt:lpstr>
      <vt:lpstr>Proyectos</vt:lpstr>
      <vt:lpstr>Recomendaciones de trabajo Proyecto</vt:lpstr>
      <vt:lpstr>Archivo de configuración</vt:lpstr>
      <vt:lpstr>Archivo de configuración</vt:lpstr>
      <vt:lpstr>Archivo Program.cs</vt:lpstr>
      <vt:lpstr>Archivo Program.cs</vt:lpstr>
      <vt:lpstr>Archivo Program.cs</vt:lpstr>
      <vt:lpstr>Tabla Materias</vt:lpstr>
      <vt:lpstr>Crear el CRUD para Materias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Especialización III: Lenguaje de Programación</dc:title>
  <dc:creator>Cesar Palacios</dc:creator>
  <cp:lastModifiedBy>Cesar Palacios</cp:lastModifiedBy>
  <cp:revision>3</cp:revision>
  <dcterms:created xsi:type="dcterms:W3CDTF">2026-04-20T22:35:31Z</dcterms:created>
  <dcterms:modified xsi:type="dcterms:W3CDTF">2026-04-20T23:40:11Z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0x010100EE347DCB393C534F9161A6E8941C3DD8</vt:lpwstr>
  </property>
</Properties>
</file>