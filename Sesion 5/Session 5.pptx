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comments/comment1.xml" ContentType="application/vnd.openxmlformats-officedocument.presentationml.comment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6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esar Palacios" initials="CP" lastIdx="2" clrIdx="0">
    <p:extLst>
      <p:ext uri="{19B8F6BF-5375-455C-9EA6-DF929625EA0E}">
        <p15:presenceInfo xmlns:p15="http://schemas.microsoft.com/office/powerpoint/2012/main" userId="75c880dba1ec5c4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2T02:12:55.098" idx="2">
    <p:pos x="618" y="3708"/>
    <p:text>Respuesta en grupo:
🔴 private: CVV, saldo actual, historial
🟡 protected: Método validar CVV (para versiones hijas)
🟢 public: Nombre titular, procesar pago
🟠 internal: Número tarjeta (para sistemas del banco)</p:text>
    <p:extLst>
      <p:ext uri="{C676402C-5697-4E1C-873F-D02D1690AC5C}">
        <p15:threadingInfo xmlns:p15="http://schemas.microsoft.com/office/powerpoint/2012/main" timeZoneBias="3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719145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509883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0541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247013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46655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614469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13203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2677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458917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861692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057133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8553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01721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836630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514557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501757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8772783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720639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862771A-F3D6-4565-9CE3-AA6133081C23}" type="datetimeFigureOut">
              <a:rPr lang="es-SV" smtClean="0"/>
              <a:t>2/3/2026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1A1776C-5BC4-4937-A851-5ED546A76F5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31707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72B7A-682C-4D21-A230-F6D448AAA5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/>
              <a:t>Especialización III:</a:t>
            </a:r>
            <a:br>
              <a:rPr lang="es-SV" dirty="0"/>
            </a:br>
            <a:r>
              <a:rPr lang="es-SV" dirty="0"/>
              <a:t>Lenguaje de Programación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2A2F29-68E0-489F-A799-785B4F3401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SV" dirty="0"/>
              <a:t>Programación Creativa</a:t>
            </a:r>
          </a:p>
        </p:txBody>
      </p:sp>
    </p:spTree>
    <p:extLst>
      <p:ext uri="{BB962C8B-B14F-4D97-AF65-F5344CB8AC3E}">
        <p14:creationId xmlns:p14="http://schemas.microsoft.com/office/powerpoint/2010/main" val="714066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F9347-AAA6-4998-A5BF-DE341E410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672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SV" dirty="0"/>
              <a:t>POO Avanzada</a:t>
            </a:r>
            <a:br>
              <a:rPr lang="es-SV" dirty="0"/>
            </a:br>
            <a:r>
              <a:rPr lang="es-SV" dirty="0"/>
              <a:t>Encapsulamiento, Herencia y Polimorfismo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8C676AC-4B87-4C64-A9BA-3FA2CB72E844}"/>
              </a:ext>
            </a:extLst>
          </p:cNvPr>
          <p:cNvSpPr txBox="1"/>
          <p:nvPr/>
        </p:nvSpPr>
        <p:spPr>
          <a:xfrm>
            <a:off x="1159497" y="3667027"/>
            <a:ext cx="101943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3200" b="1" i="0" dirty="0">
                <a:solidFill>
                  <a:srgbClr val="0F1115"/>
                </a:solidFill>
                <a:effectLst/>
                <a:latin typeface="quote-cjk-patch"/>
              </a:rPr>
              <a:t>"El código bien escrito es poesía; el código con herencia y polimorfismo es literatura."</a:t>
            </a:r>
            <a:endParaRPr lang="es-SV" sz="3200" dirty="0"/>
          </a:p>
        </p:txBody>
      </p:sp>
    </p:spTree>
    <p:extLst>
      <p:ext uri="{BB962C8B-B14F-4D97-AF65-F5344CB8AC3E}">
        <p14:creationId xmlns:p14="http://schemas.microsoft.com/office/powerpoint/2010/main" val="102503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167BC-E9C5-4E84-8EE5-5B3106E7F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El problema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2F9F30-ABD9-4010-8F67-A2E9F3FEF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9356"/>
          </a:xfrm>
        </p:spPr>
        <p:txBody>
          <a:bodyPr/>
          <a:lstStyle/>
          <a:p>
            <a:pPr marL="0" indent="0">
              <a:buNone/>
            </a:pP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😱 EL CÓDIGO REPETIDO - NUESTRO ENEMIGO</a:t>
            </a:r>
          </a:p>
          <a:p>
            <a:pPr marL="0" indent="0">
              <a:buNone/>
            </a:pPr>
            <a:endParaRPr lang="es-SV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A2467FE-5AE2-4811-ADFB-24EAB6332BE0}"/>
              </a:ext>
            </a:extLst>
          </p:cNvPr>
          <p:cNvSpPr txBox="1"/>
          <p:nvPr/>
        </p:nvSpPr>
        <p:spPr>
          <a:xfrm>
            <a:off x="9247695" y="5808837"/>
            <a:ext cx="2498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/>
              <a:t>Ver archivo </a:t>
            </a:r>
            <a:r>
              <a:rPr lang="es-SV" dirty="0" err="1"/>
              <a:t>CodigoRepetido.cs</a:t>
            </a:r>
            <a:endParaRPr lang="es-SV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0FF8E60-7732-4A25-9741-DF76B0A52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496" y="2370668"/>
            <a:ext cx="3895299" cy="404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06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2CF86-9FC2-4FA6-BF04-6394E642C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La Solución - Los Pilares de POO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C296EC-C1EC-480C-9F86-658D344E9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✨ LOS 3 PILARES QUE RESUELVEN EL CAOS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🔒 ENCAPSULAMIENTO         👨‍👦 HERENCIA                          🎭 POLIMORFISMO</a:t>
            </a:r>
          </a:p>
          <a:p>
            <a:pPr marL="0" indent="0">
              <a:buNone/>
            </a:pPr>
            <a:r>
              <a:rPr lang="es-SV" dirty="0"/>
              <a:t>        Proteger Datos	     Reutilizar Código                      Misma interfaz, 									     diferente 										     comportamiento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A143906-F527-4CA6-B329-DAC53C90FE30}"/>
              </a:ext>
            </a:extLst>
          </p:cNvPr>
          <p:cNvSpPr txBox="1"/>
          <p:nvPr/>
        </p:nvSpPr>
        <p:spPr>
          <a:xfrm>
            <a:off x="9483364" y="6089716"/>
            <a:ext cx="2894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/>
              <a:t>Ver archivo </a:t>
            </a:r>
            <a:r>
              <a:rPr lang="es-SV" dirty="0" err="1"/>
              <a:t>CódigoOrdenado.cs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527813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37C74E-BDD0-4348-9180-057A75EB9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ENCAPSULAMIENTO - El Guardián de los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92E739-E4DC-4390-909F-2CF25A1A7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dirty="0"/>
              <a:t>¿QUÉ ES ENCAPSULAMIENTO?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Definición</a:t>
            </a:r>
            <a:r>
              <a:rPr lang="es-SV" dirty="0"/>
              <a:t>: Ocultar los detalles internos de un objeto y exponer solo lo necesario a través de una interfaz controlada.</a:t>
            </a:r>
          </a:p>
        </p:txBody>
      </p:sp>
    </p:spTree>
    <p:extLst>
      <p:ext uri="{BB962C8B-B14F-4D97-AF65-F5344CB8AC3E}">
        <p14:creationId xmlns:p14="http://schemas.microsoft.com/office/powerpoint/2010/main" val="2038358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71190-A182-49FF-BBDA-D8C9C620E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Analogía: El Cajero Automático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E998E0-B792-4DC4-85DE-733BF8A6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706253"/>
            <a:ext cx="10364452" cy="49113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SV" dirty="0"/>
              <a:t>🏦 CAJERO AUTOMÁTICO = OBJETO</a:t>
            </a:r>
          </a:p>
          <a:p>
            <a:pPr marL="0" indent="0">
              <a:buNone/>
            </a:pPr>
            <a:r>
              <a:rPr lang="es-SV" dirty="0"/>
              <a:t>   ├── INTERFAZ PÚBLICA (visible): </a:t>
            </a:r>
          </a:p>
          <a:p>
            <a:pPr marL="0" indent="0">
              <a:buNone/>
            </a:pPr>
            <a:r>
              <a:rPr lang="es-SV" dirty="0"/>
              <a:t>   │    • Botones, pantalla, ranura</a:t>
            </a:r>
          </a:p>
          <a:p>
            <a:pPr marL="0" indent="0">
              <a:buNone/>
            </a:pPr>
            <a:r>
              <a:rPr lang="es-SV" dirty="0"/>
              <a:t>   │    • Métodos: Depositar(), Retirar(), </a:t>
            </a:r>
            <a:r>
              <a:rPr lang="es-SV" dirty="0" err="1"/>
              <a:t>ConsultarSaldo</a:t>
            </a:r>
            <a:r>
              <a:rPr lang="es-SV" dirty="0"/>
              <a:t>()</a:t>
            </a:r>
          </a:p>
          <a:p>
            <a:pPr marL="0" indent="0">
              <a:buNone/>
            </a:pPr>
            <a:r>
              <a:rPr lang="es-SV" dirty="0"/>
              <a:t>   │</a:t>
            </a:r>
          </a:p>
          <a:p>
            <a:pPr marL="0" indent="0">
              <a:buNone/>
            </a:pPr>
            <a:r>
              <a:rPr lang="es-SV" dirty="0"/>
              <a:t>   └── IMPLEMENTACIÓN PRIVADA (oculta):</a:t>
            </a:r>
          </a:p>
          <a:p>
            <a:pPr marL="0" indent="0">
              <a:buNone/>
            </a:pPr>
            <a:r>
              <a:rPr lang="es-SV" dirty="0"/>
              <a:t>        • Cómo valida la tarjeta</a:t>
            </a:r>
          </a:p>
          <a:p>
            <a:pPr marL="0" indent="0">
              <a:buNone/>
            </a:pPr>
            <a:r>
              <a:rPr lang="es-SV" dirty="0"/>
              <a:t>        • Cómo cuenta el dinero</a:t>
            </a:r>
          </a:p>
          <a:p>
            <a:pPr marL="0" indent="0">
              <a:buNone/>
            </a:pPr>
            <a:r>
              <a:rPr lang="es-SV" dirty="0"/>
              <a:t>        • Cómo se comunica con el banco</a:t>
            </a:r>
          </a:p>
          <a:p>
            <a:pPr marL="0" indent="0">
              <a:buNone/>
            </a:pPr>
            <a:r>
              <a:rPr lang="es-SV" dirty="0"/>
              <a:t>        • Cómo guarda el efectivo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👤 TÚ como usuario: solo ves lo necesario</a:t>
            </a:r>
          </a:p>
          <a:p>
            <a:pPr marL="0" indent="0">
              <a:buNone/>
            </a:pPr>
            <a:r>
              <a:rPr lang="es-SV" dirty="0"/>
              <a:t>🔐 NO puedes: abrir la caja fuerte, cambiar el software</a:t>
            </a:r>
          </a:p>
        </p:txBody>
      </p:sp>
    </p:spTree>
    <p:extLst>
      <p:ext uri="{BB962C8B-B14F-4D97-AF65-F5344CB8AC3E}">
        <p14:creationId xmlns:p14="http://schemas.microsoft.com/office/powerpoint/2010/main" val="1679271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81812-23CC-464C-91F7-6513EED4B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Encapsulamiento en Código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E54D59-E61D-481F-A94D-6C5B64278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11985"/>
            <a:ext cx="10364452" cy="506219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s-SV" dirty="0"/>
              <a:t>SIN ENCAPSULAMIENTO (PELIGROSO)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>
                <a:solidFill>
                  <a:srgbClr val="7030A0"/>
                </a:solidFill>
              </a:rPr>
              <a:t>public class </a:t>
            </a:r>
            <a:r>
              <a:rPr lang="es-SV" dirty="0">
                <a:solidFill>
                  <a:schemeClr val="accent2"/>
                </a:solidFill>
              </a:rPr>
              <a:t>CuentaBancariaInsegura</a:t>
            </a:r>
          </a:p>
          <a:p>
            <a:pPr marL="0" indent="0">
              <a:buNone/>
            </a:pPr>
            <a:r>
              <a:rPr lang="es-SV" dirty="0"/>
              <a:t>{</a:t>
            </a:r>
          </a:p>
          <a:p>
            <a:pPr marL="0" indent="0">
              <a:buNone/>
            </a:pPr>
            <a:r>
              <a:rPr lang="es-SV" dirty="0"/>
              <a:t>    </a:t>
            </a:r>
            <a:r>
              <a:rPr lang="es-SV" dirty="0">
                <a:solidFill>
                  <a:srgbClr val="7030A0"/>
                </a:solidFill>
              </a:rPr>
              <a:t>public decimal</a:t>
            </a:r>
            <a:r>
              <a:rPr lang="es-SV" dirty="0"/>
              <a:t> Saldo;  </a:t>
            </a:r>
            <a:r>
              <a:rPr lang="es-SV" dirty="0">
                <a:solidFill>
                  <a:schemeClr val="bg1">
                    <a:lumMod val="65000"/>
                  </a:schemeClr>
                </a:solidFill>
              </a:rPr>
              <a:t>// Público - cualquiera puede modificarlo</a:t>
            </a:r>
          </a:p>
          <a:p>
            <a:pPr marL="0" indent="0">
              <a:buNone/>
            </a:pPr>
            <a:r>
              <a:rPr lang="es-SV" dirty="0"/>
              <a:t>    </a:t>
            </a:r>
            <a:r>
              <a:rPr lang="es-SV" dirty="0">
                <a:solidFill>
                  <a:srgbClr val="7030A0"/>
                </a:solidFill>
              </a:rPr>
              <a:t>public string </a:t>
            </a:r>
            <a:r>
              <a:rPr lang="es-SV" dirty="0"/>
              <a:t>Contraseña;  </a:t>
            </a:r>
            <a:r>
              <a:rPr lang="es-SV" dirty="0">
                <a:solidFill>
                  <a:schemeClr val="bg1">
                    <a:lumMod val="65000"/>
                  </a:schemeClr>
                </a:solidFill>
              </a:rPr>
              <a:t>// ¡Esto es un desastre!</a:t>
            </a:r>
          </a:p>
          <a:p>
            <a:pPr marL="0" indent="0">
              <a:buNone/>
            </a:pPr>
            <a:r>
              <a:rPr lang="es-SV" dirty="0"/>
              <a:t>}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>
                <a:solidFill>
                  <a:schemeClr val="bg1">
                    <a:lumMod val="65000"/>
                  </a:schemeClr>
                </a:solidFill>
              </a:rPr>
              <a:t>// En cualquier parte del código:</a:t>
            </a:r>
          </a:p>
          <a:p>
            <a:pPr marL="0" indent="0">
              <a:buNone/>
            </a:pPr>
            <a:r>
              <a:rPr lang="es-SV" dirty="0">
                <a:solidFill>
                  <a:schemeClr val="accent2"/>
                </a:solidFill>
              </a:rPr>
              <a:t>CuentaBancariaInsegura</a:t>
            </a:r>
            <a:r>
              <a:rPr lang="es-SV" dirty="0"/>
              <a:t> cuenta = </a:t>
            </a:r>
            <a:r>
              <a:rPr lang="es-SV" dirty="0">
                <a:solidFill>
                  <a:srgbClr val="7030A0"/>
                </a:solidFill>
              </a:rPr>
              <a:t>new</a:t>
            </a:r>
            <a:r>
              <a:rPr lang="es-SV" dirty="0"/>
              <a:t> </a:t>
            </a:r>
            <a:r>
              <a:rPr lang="es-SV" dirty="0">
                <a:solidFill>
                  <a:schemeClr val="accent2"/>
                </a:solidFill>
              </a:rPr>
              <a:t>CuentaBancariaInsegura();</a:t>
            </a:r>
          </a:p>
          <a:p>
            <a:pPr marL="0" indent="0">
              <a:buNone/>
            </a:pPr>
            <a:r>
              <a:rPr lang="es-SV" dirty="0"/>
              <a:t>cuenta.Saldo = </a:t>
            </a:r>
            <a:r>
              <a:rPr lang="es-SV" dirty="0">
                <a:solidFill>
                  <a:schemeClr val="accent2"/>
                </a:solidFill>
              </a:rPr>
              <a:t>-1000</a:t>
            </a:r>
            <a:r>
              <a:rPr lang="es-SV" dirty="0"/>
              <a:t>;  </a:t>
            </a:r>
            <a:r>
              <a:rPr lang="es-SV" dirty="0">
                <a:solidFill>
                  <a:schemeClr val="bg1">
                    <a:lumMod val="65000"/>
                  </a:schemeClr>
                </a:solidFill>
              </a:rPr>
              <a:t>// ❌ Saldo negativo permitido</a:t>
            </a:r>
          </a:p>
          <a:p>
            <a:pPr marL="0" indent="0">
              <a:buNone/>
            </a:pPr>
            <a:r>
              <a:rPr lang="es-SV" dirty="0"/>
              <a:t>cuenta.Contraseña = </a:t>
            </a:r>
            <a:r>
              <a:rPr lang="es-SV" dirty="0">
                <a:solidFill>
                  <a:schemeClr val="accent6"/>
                </a:solidFill>
              </a:rPr>
              <a:t>"hackeada"</a:t>
            </a:r>
            <a:r>
              <a:rPr lang="es-SV" dirty="0"/>
              <a:t>;  </a:t>
            </a:r>
            <a:r>
              <a:rPr lang="es-SV" dirty="0">
                <a:solidFill>
                  <a:schemeClr val="bg1">
                    <a:lumMod val="65000"/>
                  </a:schemeClr>
                </a:solidFill>
              </a:rPr>
              <a:t>// ❌ Modificada externamente</a:t>
            </a:r>
          </a:p>
        </p:txBody>
      </p:sp>
    </p:spTree>
    <p:extLst>
      <p:ext uri="{BB962C8B-B14F-4D97-AF65-F5344CB8AC3E}">
        <p14:creationId xmlns:p14="http://schemas.microsoft.com/office/powerpoint/2010/main" val="1489581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A6FF5-628C-46AF-9AF1-23D60DF3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18896"/>
            <a:ext cx="10364451" cy="1596177"/>
          </a:xfrm>
        </p:spPr>
        <p:txBody>
          <a:bodyPr/>
          <a:lstStyle/>
          <a:p>
            <a:r>
              <a:rPr lang="es-SV" dirty="0"/>
              <a:t>Encapsulamiento en Código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68408D-4AE4-40CD-B30E-C53996388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656"/>
            <a:ext cx="10515600" cy="5748637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s-SV" dirty="0"/>
              <a:t>✅ CON ENCAPSULAMIENTO (SEGURO)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>
                <a:solidFill>
                  <a:schemeClr val="accent3"/>
                </a:solidFill>
              </a:rPr>
              <a:t>    // Campos PRIVADOS - nadie fuera puede acceder directamente</a:t>
            </a:r>
          </a:p>
          <a:p>
            <a:pPr marL="0" indent="0">
              <a:buNone/>
            </a:pPr>
            <a:r>
              <a:rPr lang="es-SV" dirty="0">
                <a:solidFill>
                  <a:srgbClr val="7030A0"/>
                </a:solidFill>
              </a:rPr>
              <a:t>    </a:t>
            </a:r>
            <a:r>
              <a:rPr lang="es-SV" dirty="0" err="1">
                <a:solidFill>
                  <a:srgbClr val="7030A0"/>
                </a:solidFill>
              </a:rPr>
              <a:t>private</a:t>
            </a:r>
            <a:r>
              <a:rPr lang="es-SV" dirty="0">
                <a:solidFill>
                  <a:srgbClr val="7030A0"/>
                </a:solidFill>
              </a:rPr>
              <a:t> decimal </a:t>
            </a:r>
            <a:r>
              <a:rPr lang="es-SV" dirty="0"/>
              <a:t>_saldo;</a:t>
            </a:r>
          </a:p>
          <a:p>
            <a:pPr marL="0" indent="0">
              <a:buNone/>
            </a:pPr>
            <a:r>
              <a:rPr lang="es-SV" dirty="0">
                <a:solidFill>
                  <a:srgbClr val="7030A0"/>
                </a:solidFill>
              </a:rPr>
              <a:t>    </a:t>
            </a:r>
            <a:r>
              <a:rPr lang="es-SV" dirty="0" err="1">
                <a:solidFill>
                  <a:srgbClr val="7030A0"/>
                </a:solidFill>
              </a:rPr>
              <a:t>private</a:t>
            </a:r>
            <a:r>
              <a:rPr lang="es-SV" dirty="0">
                <a:solidFill>
                  <a:srgbClr val="7030A0"/>
                </a:solidFill>
              </a:rPr>
              <a:t> string</a:t>
            </a:r>
            <a:r>
              <a:rPr lang="es-SV" dirty="0"/>
              <a:t> _contraseña;</a:t>
            </a:r>
          </a:p>
          <a:p>
            <a:pPr marL="0" indent="0">
              <a:buNone/>
            </a:pPr>
            <a:r>
              <a:rPr lang="es-SV" dirty="0"/>
              <a:t>    </a:t>
            </a:r>
            <a:r>
              <a:rPr lang="es-SV" dirty="0" err="1">
                <a:solidFill>
                  <a:srgbClr val="7030A0"/>
                </a:solidFill>
              </a:rPr>
              <a:t>private</a:t>
            </a:r>
            <a:r>
              <a:rPr lang="es-SV" dirty="0">
                <a:solidFill>
                  <a:srgbClr val="7030A0"/>
                </a:solidFill>
              </a:rPr>
              <a:t> </a:t>
            </a:r>
            <a:r>
              <a:rPr lang="es-SV" dirty="0" err="1">
                <a:solidFill>
                  <a:srgbClr val="7030A0"/>
                </a:solidFill>
              </a:rPr>
              <a:t>List</a:t>
            </a:r>
            <a:r>
              <a:rPr lang="es-SV" dirty="0">
                <a:solidFill>
                  <a:srgbClr val="7030A0"/>
                </a:solidFill>
              </a:rPr>
              <a:t>&lt;string&gt; </a:t>
            </a:r>
            <a:r>
              <a:rPr lang="es-SV" dirty="0"/>
              <a:t>_</a:t>
            </a:r>
            <a:r>
              <a:rPr lang="es-SV" dirty="0" err="1"/>
              <a:t>historialTransacciones</a:t>
            </a:r>
            <a:r>
              <a:rPr lang="es-SV" dirty="0"/>
              <a:t>;</a:t>
            </a:r>
          </a:p>
          <a:p>
            <a:pPr marL="0" indent="0">
              <a:buNone/>
            </a:pPr>
            <a:r>
              <a:rPr lang="es-SV" dirty="0"/>
              <a:t>    </a:t>
            </a:r>
          </a:p>
          <a:p>
            <a:pPr marL="0" indent="0">
              <a:buNone/>
            </a:pPr>
            <a:r>
              <a:rPr lang="es-SV" dirty="0"/>
              <a:t>    </a:t>
            </a:r>
            <a:r>
              <a:rPr lang="es-SV" dirty="0">
                <a:solidFill>
                  <a:schemeClr val="accent3"/>
                </a:solidFill>
              </a:rPr>
              <a:t>// PROPIEDADES PÚBLICAS - acceso controlado</a:t>
            </a:r>
          </a:p>
          <a:p>
            <a:pPr marL="0" indent="0">
              <a:buNone/>
            </a:pPr>
            <a:r>
              <a:rPr lang="es-SV" dirty="0"/>
              <a:t>    </a:t>
            </a:r>
            <a:r>
              <a:rPr lang="es-SV" dirty="0">
                <a:solidFill>
                  <a:srgbClr val="7030A0"/>
                </a:solidFill>
              </a:rPr>
              <a:t>public string </a:t>
            </a:r>
            <a:r>
              <a:rPr lang="es-SV" dirty="0"/>
              <a:t>Titular { </a:t>
            </a:r>
            <a:r>
              <a:rPr lang="es-SV" dirty="0" err="1"/>
              <a:t>get</a:t>
            </a:r>
            <a:r>
              <a:rPr lang="es-SV" dirty="0"/>
              <a:t>; set; }</a:t>
            </a:r>
          </a:p>
          <a:p>
            <a:pPr marL="0" indent="0">
              <a:buNone/>
            </a:pPr>
            <a:r>
              <a:rPr lang="es-SV" dirty="0"/>
              <a:t>    </a:t>
            </a:r>
          </a:p>
          <a:p>
            <a:pPr marL="0" indent="0">
              <a:buNone/>
            </a:pPr>
            <a:r>
              <a:rPr lang="es-SV" dirty="0"/>
              <a:t>     </a:t>
            </a:r>
            <a:r>
              <a:rPr lang="es-SV" dirty="0">
                <a:solidFill>
                  <a:schemeClr val="accent3"/>
                </a:solidFill>
              </a:rPr>
              <a:t>// MÉTODOS PÚBLICOS - interfaz controlada</a:t>
            </a:r>
          </a:p>
          <a:p>
            <a:pPr marL="0" indent="0">
              <a:buNone/>
            </a:pPr>
            <a:r>
              <a:rPr lang="es-SV" dirty="0">
                <a:solidFill>
                  <a:srgbClr val="7030A0"/>
                </a:solidFill>
              </a:rPr>
              <a:t>    public </a:t>
            </a:r>
            <a:r>
              <a:rPr lang="es-SV" dirty="0" err="1">
                <a:solidFill>
                  <a:srgbClr val="7030A0"/>
                </a:solidFill>
              </a:rPr>
              <a:t>void</a:t>
            </a:r>
            <a:r>
              <a:rPr lang="es-SV" dirty="0">
                <a:solidFill>
                  <a:srgbClr val="7030A0"/>
                </a:solidFill>
              </a:rPr>
              <a:t> </a:t>
            </a:r>
            <a:r>
              <a:rPr lang="es-SV" dirty="0">
                <a:solidFill>
                  <a:schemeClr val="accent1"/>
                </a:solidFill>
              </a:rPr>
              <a:t>Depositar</a:t>
            </a:r>
            <a:r>
              <a:rPr lang="es-SV" dirty="0"/>
              <a:t>(decimal monto)</a:t>
            </a:r>
          </a:p>
          <a:p>
            <a:pPr marL="0" indent="0">
              <a:buNone/>
            </a:pPr>
            <a:r>
              <a:rPr lang="es-SV" dirty="0"/>
              <a:t>    {</a:t>
            </a:r>
          </a:p>
          <a:p>
            <a:pPr marL="0" indent="0">
              <a:buNone/>
            </a:pPr>
            <a:r>
              <a:rPr lang="es-SV" dirty="0"/>
              <a:t>            </a:t>
            </a:r>
            <a:r>
              <a:rPr lang="es-SV" dirty="0">
                <a:solidFill>
                  <a:schemeClr val="accent3"/>
                </a:solidFill>
              </a:rPr>
              <a:t>//Todas las validaciones necesarias…</a:t>
            </a:r>
          </a:p>
          <a:p>
            <a:pPr marL="0" indent="0">
              <a:buNone/>
            </a:pPr>
            <a:r>
              <a:rPr lang="es-SV" dirty="0"/>
              <a:t>            _saldo += monto;</a:t>
            </a:r>
          </a:p>
          <a:p>
            <a:pPr marL="0" indent="0">
              <a:buNone/>
            </a:pPr>
            <a:r>
              <a:rPr lang="es-SV" dirty="0"/>
              <a:t>            </a:t>
            </a:r>
            <a:r>
              <a:rPr lang="es-SV" dirty="0" err="1">
                <a:solidFill>
                  <a:srgbClr val="7030A0"/>
                </a:solidFill>
              </a:rPr>
              <a:t>Console.WriteLine</a:t>
            </a:r>
            <a:r>
              <a:rPr lang="es-SV" dirty="0">
                <a:solidFill>
                  <a:srgbClr val="7030A0"/>
                </a:solidFill>
              </a:rPr>
              <a:t>(</a:t>
            </a:r>
            <a:r>
              <a:rPr lang="es-SV" dirty="0"/>
              <a:t>$</a:t>
            </a:r>
            <a:r>
              <a:rPr lang="es-SV" dirty="0">
                <a:solidFill>
                  <a:schemeClr val="accent6"/>
                </a:solidFill>
              </a:rPr>
              <a:t>"💰 Depósito exitoso. Nuevo saldo: {_</a:t>
            </a:r>
            <a:r>
              <a:rPr lang="es-SV" dirty="0" err="1">
                <a:solidFill>
                  <a:schemeClr val="accent6"/>
                </a:solidFill>
              </a:rPr>
              <a:t>saldo:C</a:t>
            </a:r>
            <a:r>
              <a:rPr lang="es-SV" dirty="0">
                <a:solidFill>
                  <a:schemeClr val="accent6"/>
                </a:solidFill>
              </a:rPr>
              <a:t>}"</a:t>
            </a:r>
            <a:r>
              <a:rPr lang="es-SV" dirty="0"/>
              <a:t>);</a:t>
            </a:r>
          </a:p>
          <a:p>
            <a:pPr marL="0" indent="0">
              <a:buNone/>
            </a:pPr>
            <a:r>
              <a:rPr lang="es-SV" dirty="0"/>
              <a:t>        }</a:t>
            </a:r>
          </a:p>
          <a:p>
            <a:pPr marL="0" indent="0">
              <a:buNone/>
            </a:pPr>
            <a:r>
              <a:rPr lang="es-SV" dirty="0"/>
              <a:t>    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7C3B7DF-ABE5-4ED9-A84B-51AA06483EC6}"/>
              </a:ext>
            </a:extLst>
          </p:cNvPr>
          <p:cNvSpPr txBox="1"/>
          <p:nvPr/>
        </p:nvSpPr>
        <p:spPr>
          <a:xfrm>
            <a:off x="9379670" y="6176963"/>
            <a:ext cx="2271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 </a:t>
            </a:r>
            <a:r>
              <a:rPr lang="en-US" dirty="0" err="1"/>
              <a:t>archivo</a:t>
            </a:r>
            <a:r>
              <a:rPr lang="en-US" dirty="0"/>
              <a:t> </a:t>
            </a:r>
            <a:r>
              <a:rPr lang="en-US" dirty="0" err="1"/>
              <a:t>CodigoEncapsulado.cs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642022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A995E-2D98-4FB2-8E83-EF5AEBDD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MODIFICADORES DE ACCESO</a:t>
            </a:r>
            <a:br>
              <a:rPr lang="es-SV" dirty="0"/>
            </a:br>
            <a:r>
              <a:rPr lang="es-SV" dirty="0"/>
              <a:t>El Sistema de Permisos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9E526A6-10EA-4FA2-B747-FCA47DD63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0227" y="1791927"/>
            <a:ext cx="6346895" cy="5037792"/>
          </a:xfr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58DA134-1DB7-41BD-83AB-3C8FADD14AC3}"/>
              </a:ext>
            </a:extLst>
          </p:cNvPr>
          <p:cNvSpPr txBox="1"/>
          <p:nvPr/>
        </p:nvSpPr>
        <p:spPr>
          <a:xfrm>
            <a:off x="9257122" y="5901179"/>
            <a:ext cx="2573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 </a:t>
            </a:r>
            <a:r>
              <a:rPr lang="en-US" dirty="0" err="1"/>
              <a:t>archivo</a:t>
            </a:r>
            <a:r>
              <a:rPr lang="en-US" dirty="0"/>
              <a:t> </a:t>
            </a:r>
            <a:r>
              <a:rPr lang="en-US" dirty="0" err="1"/>
              <a:t>EjemploModificadores.cs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700351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C518A7-068C-4034-9BBA-C8442EFE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31975"/>
            <a:ext cx="10364451" cy="934825"/>
          </a:xfrm>
        </p:spPr>
        <p:txBody>
          <a:bodyPr/>
          <a:lstStyle/>
          <a:p>
            <a:r>
              <a:rPr lang="es-SV" dirty="0"/>
              <a:t>Ejercicio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E968A0-7C06-406F-A796-15C74832C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066800"/>
            <a:ext cx="10364452" cy="55508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Instrucciones: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Identificar qué modificador de acceso usarías para la clase siguiente: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>
                <a:solidFill>
                  <a:srgbClr val="7030A0"/>
                </a:solidFill>
              </a:rPr>
              <a:t>public class </a:t>
            </a:r>
            <a:r>
              <a:rPr lang="es-SV" dirty="0">
                <a:solidFill>
                  <a:schemeClr val="accent2"/>
                </a:solidFill>
              </a:rPr>
              <a:t>TarjetaCredito</a:t>
            </a:r>
          </a:p>
          <a:p>
            <a:pPr marL="0" indent="0">
              <a:buNone/>
            </a:pPr>
            <a:r>
              <a:rPr lang="es-SV" dirty="0"/>
              <a:t>{</a:t>
            </a:r>
          </a:p>
          <a:p>
            <a:pPr marL="0" indent="0">
              <a:buNone/>
            </a:pPr>
            <a:r>
              <a:rPr lang="es-SV" dirty="0"/>
              <a:t>    1. Número de tarjeta (16 dígitos) - ¿?</a:t>
            </a:r>
          </a:p>
          <a:p>
            <a:pPr marL="0" indent="0">
              <a:buNone/>
            </a:pPr>
            <a:r>
              <a:rPr lang="es-SV" dirty="0"/>
              <a:t>    2. CVV (código de seguridad) - ¿?</a:t>
            </a:r>
          </a:p>
          <a:p>
            <a:pPr marL="0" indent="0">
              <a:buNone/>
            </a:pPr>
            <a:r>
              <a:rPr lang="es-SV" dirty="0"/>
              <a:t>    3. Nombre del titular - ¿?</a:t>
            </a:r>
          </a:p>
          <a:p>
            <a:pPr marL="0" indent="0">
              <a:buNone/>
            </a:pPr>
            <a:r>
              <a:rPr lang="es-SV" dirty="0"/>
              <a:t>    4. Límite de crédito - ¿?</a:t>
            </a:r>
          </a:p>
          <a:p>
            <a:pPr marL="0" indent="0">
              <a:buNone/>
            </a:pPr>
            <a:r>
              <a:rPr lang="es-SV" dirty="0"/>
              <a:t>    5. Saldo actual - ¿?</a:t>
            </a:r>
          </a:p>
          <a:p>
            <a:pPr marL="0" indent="0">
              <a:buNone/>
            </a:pPr>
            <a:r>
              <a:rPr lang="es-SV" dirty="0"/>
              <a:t>    6. Método para validar el CVV - ¿?</a:t>
            </a:r>
          </a:p>
          <a:p>
            <a:pPr marL="0" indent="0">
              <a:buNone/>
            </a:pPr>
            <a:r>
              <a:rPr lang="es-SV" dirty="0"/>
              <a:t>    7. Método para procesar un pago - ¿?</a:t>
            </a:r>
          </a:p>
          <a:p>
            <a:pPr marL="0" indent="0">
              <a:buNone/>
            </a:pPr>
            <a:r>
              <a:rPr lang="es-SV" dirty="0"/>
              <a:t>    8. Historial de transacciones - ¿?</a:t>
            </a:r>
          </a:p>
          <a:p>
            <a:pPr marL="0" indent="0">
              <a:buNone/>
            </a:pPr>
            <a:r>
              <a:rPr lang="es-SV" dirty="0"/>
              <a:t>}</a:t>
            </a:r>
          </a:p>
          <a:p>
            <a:pPr marL="0" indent="0">
              <a:buNone/>
            </a:pP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56870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96F4E5-FAEF-426A-919C-56DB1EEE0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1"/>
            <a:ext cx="10515600" cy="1325563"/>
          </a:xfrm>
        </p:spPr>
        <p:txBody>
          <a:bodyPr/>
          <a:lstStyle/>
          <a:p>
            <a:r>
              <a:rPr lang="es-SV" dirty="0"/>
              <a:t>HERENCIA - El Poder de la Reutilización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58A857-BBE8-4D0B-8D96-0780D9814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15275"/>
            <a:ext cx="10364452" cy="3937113"/>
          </a:xfrm>
        </p:spPr>
        <p:txBody>
          <a:bodyPr/>
          <a:lstStyle/>
          <a:p>
            <a:pPr marL="0" indent="0">
              <a:buNone/>
            </a:pPr>
            <a:r>
              <a:rPr lang="es-SV" dirty="0"/>
              <a:t>¿QUÉ ES HERENCIA?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Definición: Mecanismo que permite crear una nueva clase a partir de una existente, heredando sus miembros y pudiendo agregar nuevos o modificar los existentes.</a:t>
            </a:r>
          </a:p>
        </p:txBody>
      </p:sp>
    </p:spTree>
    <p:extLst>
      <p:ext uri="{BB962C8B-B14F-4D97-AF65-F5344CB8AC3E}">
        <p14:creationId xmlns:p14="http://schemas.microsoft.com/office/powerpoint/2010/main" val="1606913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F6926-44F1-4CA3-AA84-DD87E732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Analogía: Herencia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3C9A76A-F6C8-455E-AA7F-3D84ECB480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8438" y="1848856"/>
            <a:ext cx="8052254" cy="4750534"/>
          </a:xfrm>
        </p:spPr>
      </p:pic>
    </p:spTree>
    <p:extLst>
      <p:ext uri="{BB962C8B-B14F-4D97-AF65-F5344CB8AC3E}">
        <p14:creationId xmlns:p14="http://schemas.microsoft.com/office/powerpoint/2010/main" val="3934996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9A040-2A87-4581-B980-066455577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3" y="222591"/>
            <a:ext cx="10364451" cy="1596177"/>
          </a:xfrm>
        </p:spPr>
        <p:txBody>
          <a:bodyPr/>
          <a:lstStyle/>
          <a:p>
            <a:r>
              <a:rPr lang="es-SV" dirty="0"/>
              <a:t>Herencia en Código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D18282-5203-4C5F-97CB-3C171498F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583703"/>
            <a:ext cx="10364452" cy="523959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SV" dirty="0"/>
              <a:t>Sintaxis C#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>
                <a:solidFill>
                  <a:srgbClr val="7030A0"/>
                </a:solidFill>
              </a:rPr>
              <a:t>public class </a:t>
            </a:r>
            <a:r>
              <a:rPr lang="es-SV" dirty="0">
                <a:solidFill>
                  <a:schemeClr val="accent2"/>
                </a:solidFill>
              </a:rPr>
              <a:t>Animal</a:t>
            </a:r>
          </a:p>
          <a:p>
            <a:pPr marL="0" indent="0">
              <a:buNone/>
            </a:pPr>
            <a:r>
              <a:rPr lang="es-SV" dirty="0"/>
              <a:t>{</a:t>
            </a:r>
          </a:p>
          <a:p>
            <a:pPr marL="0" indent="0">
              <a:buNone/>
            </a:pPr>
            <a:r>
              <a:rPr lang="es-SV" dirty="0"/>
              <a:t>	</a:t>
            </a:r>
            <a:r>
              <a:rPr lang="es-SV" dirty="0">
                <a:solidFill>
                  <a:schemeClr val="accent3"/>
                </a:solidFill>
              </a:rPr>
              <a:t>//Todo el código de la Clase Animal</a:t>
            </a:r>
          </a:p>
          <a:p>
            <a:pPr marL="0" indent="0">
              <a:buNone/>
            </a:pPr>
            <a:r>
              <a:rPr lang="es-SV" dirty="0"/>
              <a:t>}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>
                <a:solidFill>
                  <a:srgbClr val="7030A0"/>
                </a:solidFill>
              </a:rPr>
              <a:t>public class </a:t>
            </a:r>
            <a:r>
              <a:rPr lang="es-SV" dirty="0">
                <a:solidFill>
                  <a:schemeClr val="accent2"/>
                </a:solidFill>
              </a:rPr>
              <a:t>Perro</a:t>
            </a:r>
            <a:r>
              <a:rPr lang="es-SV" dirty="0"/>
              <a:t> : </a:t>
            </a:r>
            <a:r>
              <a:rPr lang="es-SV" dirty="0">
                <a:solidFill>
                  <a:schemeClr val="accent1"/>
                </a:solidFill>
              </a:rPr>
              <a:t>Animal</a:t>
            </a:r>
            <a:r>
              <a:rPr lang="es-SV" dirty="0"/>
              <a:t>  </a:t>
            </a:r>
            <a:r>
              <a:rPr lang="es-SV" dirty="0">
                <a:solidFill>
                  <a:schemeClr val="accent3"/>
                </a:solidFill>
              </a:rPr>
              <a:t>// Perro ES UN Animal</a:t>
            </a:r>
          </a:p>
          <a:p>
            <a:pPr marL="0" indent="0">
              <a:buNone/>
            </a:pPr>
            <a:r>
              <a:rPr lang="es-SV" dirty="0"/>
              <a:t>{</a:t>
            </a:r>
          </a:p>
          <a:p>
            <a:pPr marL="0" indent="0">
              <a:buNone/>
            </a:pPr>
            <a:r>
              <a:rPr lang="es-SV" dirty="0"/>
              <a:t>	</a:t>
            </a:r>
            <a:r>
              <a:rPr lang="es-SV" dirty="0">
                <a:solidFill>
                  <a:schemeClr val="accent3"/>
                </a:solidFill>
              </a:rPr>
              <a:t>//Todo el código de la clase Perro, pero aquí puedes usar todo lo que 	</a:t>
            </a:r>
          </a:p>
          <a:p>
            <a:pPr marL="0" indent="0">
              <a:buNone/>
            </a:pPr>
            <a:r>
              <a:rPr lang="es-SV" dirty="0">
                <a:solidFill>
                  <a:schemeClr val="accent3"/>
                </a:solidFill>
              </a:rPr>
              <a:t>	//se define en la clase animal.</a:t>
            </a:r>
          </a:p>
          <a:p>
            <a:pPr marL="0" indent="0">
              <a:buNone/>
            </a:pPr>
            <a:r>
              <a:rPr lang="es-SV" dirty="0"/>
              <a:t>}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F93141B-D83E-44BD-B2E2-C223A67C4852}"/>
              </a:ext>
            </a:extLst>
          </p:cNvPr>
          <p:cNvSpPr txBox="1"/>
          <p:nvPr/>
        </p:nvSpPr>
        <p:spPr>
          <a:xfrm>
            <a:off x="9153427" y="6176963"/>
            <a:ext cx="2611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 </a:t>
            </a:r>
            <a:r>
              <a:rPr lang="en-US" dirty="0" err="1"/>
              <a:t>archivo</a:t>
            </a:r>
            <a:r>
              <a:rPr lang="en-US" dirty="0"/>
              <a:t> </a:t>
            </a:r>
            <a:r>
              <a:rPr lang="en-US" dirty="0" err="1"/>
              <a:t>Herencia.cs</a:t>
            </a:r>
            <a:r>
              <a:rPr lang="en-US" dirty="0"/>
              <a:t>  y </a:t>
            </a:r>
            <a:r>
              <a:rPr lang="en-US" dirty="0" err="1"/>
              <a:t>Jerarquias.cs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919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54105-53F7-40F4-ACF6-D3DFE226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PERSONALIZANDO COMPORTAMIENTOS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33E7BC-CC6A-466F-A60D-7D6F2136D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1287"/>
            <a:ext cx="10515600" cy="3895676"/>
          </a:xfrm>
        </p:spPr>
        <p:txBody>
          <a:bodyPr/>
          <a:lstStyle/>
          <a:p>
            <a:r>
              <a:rPr lang="es-SV" dirty="0">
                <a:solidFill>
                  <a:srgbClr val="7030A0"/>
                </a:solidFill>
              </a:rPr>
              <a:t>virtual</a:t>
            </a:r>
            <a:r>
              <a:rPr lang="es-SV" dirty="0"/>
              <a:t>: Marca un método que puede ser sobrescrito en clases hijas</a:t>
            </a:r>
          </a:p>
          <a:p>
            <a:r>
              <a:rPr lang="es-SV" dirty="0" err="1">
                <a:solidFill>
                  <a:srgbClr val="7030A0"/>
                </a:solidFill>
              </a:rPr>
              <a:t>override</a:t>
            </a:r>
            <a:r>
              <a:rPr lang="es-SV" dirty="0"/>
              <a:t>: Implementa una nueva versión del método virtual</a:t>
            </a:r>
          </a:p>
          <a:p>
            <a:endParaRPr lang="es-SV" dirty="0"/>
          </a:p>
          <a:p>
            <a:endParaRPr lang="es-SV" dirty="0"/>
          </a:p>
          <a:p>
            <a:endParaRPr lang="es-SV" dirty="0"/>
          </a:p>
          <a:p>
            <a:endParaRPr lang="es-SV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E558DC0-9C0A-4525-BADE-F46E2E78AFC1}"/>
              </a:ext>
            </a:extLst>
          </p:cNvPr>
          <p:cNvSpPr txBox="1"/>
          <p:nvPr/>
        </p:nvSpPr>
        <p:spPr>
          <a:xfrm>
            <a:off x="8870623" y="5354425"/>
            <a:ext cx="2483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 </a:t>
            </a:r>
            <a:r>
              <a:rPr lang="en-US" dirty="0" err="1"/>
              <a:t>archivo</a:t>
            </a:r>
            <a:r>
              <a:rPr lang="en-US" dirty="0"/>
              <a:t> </a:t>
            </a:r>
            <a:r>
              <a:rPr lang="en-US" dirty="0" err="1"/>
              <a:t>Figuras.cs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419235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ADD72-AF44-4415-B31D-25A76FC24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Ejercicio de herencia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5FDD56-E813-44BC-9811-B4EC0DD51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Crear una clase Padre y 3 clases hijo que hereden de la clase padre sus atributos y métodos.</a:t>
            </a:r>
          </a:p>
        </p:txBody>
      </p:sp>
    </p:spTree>
    <p:extLst>
      <p:ext uri="{BB962C8B-B14F-4D97-AF65-F5344CB8AC3E}">
        <p14:creationId xmlns:p14="http://schemas.microsoft.com/office/powerpoint/2010/main" val="3633990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8BED7-D482-426C-8297-519192D3B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POLIMORFISMO - El Camaleón de POO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529481-1B9F-445C-8A1A-684B824D9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¿QUÉ ES POLIMORFISMO?</a:t>
            </a:r>
          </a:p>
          <a:p>
            <a:pPr marL="0" indent="0" algn="l">
              <a:buNone/>
            </a:pPr>
            <a:endParaRPr lang="es-SV" b="1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Definición: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Capacidad de un objeto de tomar múltiples formas. El mismo método puede comportarse diferente según el objeto que lo invoque.</a:t>
            </a:r>
          </a:p>
          <a:p>
            <a:pPr algn="l"/>
            <a:endParaRPr lang="es-SV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"Polimorfismo" = "Muchas formas"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es-SV" b="0" i="0" dirty="0" err="1">
                <a:solidFill>
                  <a:srgbClr val="0F1115"/>
                </a:solidFill>
                <a:effectLst/>
                <a:latin typeface="quote-cjk-patch"/>
              </a:rPr>
              <a:t>Poly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 = muchas, Morfismo = formas)</a:t>
            </a:r>
          </a:p>
          <a:p>
            <a:pPr marL="0" indent="0">
              <a:buNone/>
            </a:pP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648403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3F392-A1D8-4CF3-BD61-A9D87A6E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Analogía: El Control Remoto Universal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DC2FFBE-0C10-4121-AF72-4246E21691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9961" y="2329775"/>
            <a:ext cx="8972077" cy="3909708"/>
          </a:xfrm>
        </p:spPr>
      </p:pic>
    </p:spTree>
    <p:extLst>
      <p:ext uri="{BB962C8B-B14F-4D97-AF65-F5344CB8AC3E}">
        <p14:creationId xmlns:p14="http://schemas.microsoft.com/office/powerpoint/2010/main" val="699331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A8765-9875-4DDF-A04A-B7FBB34A2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Analogía 2: Instrumentos Musicales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34659A1-A6E3-46A3-BE73-4EE359F0E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553" y="1969940"/>
            <a:ext cx="9403981" cy="411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69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56ABF-CBCF-4434-A60B-A385C5FE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Polimorfismo en Código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BC3C89C2-4666-4A19-8B11-1E33B05BF3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019" y="2112439"/>
            <a:ext cx="8161332" cy="4529540"/>
          </a:xfr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BBA9888-24C8-4E61-B362-C21A46CBBED4}"/>
              </a:ext>
            </a:extLst>
          </p:cNvPr>
          <p:cNvSpPr txBox="1"/>
          <p:nvPr/>
        </p:nvSpPr>
        <p:spPr>
          <a:xfrm>
            <a:off x="8330815" y="5665569"/>
            <a:ext cx="3861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 </a:t>
            </a:r>
            <a:r>
              <a:rPr lang="en-US" dirty="0" err="1"/>
              <a:t>archivo</a:t>
            </a:r>
            <a:r>
              <a:rPr lang="en-US" dirty="0"/>
              <a:t> </a:t>
            </a:r>
            <a:r>
              <a:rPr lang="en-US" dirty="0" err="1"/>
              <a:t>Polimorfismo.cs</a:t>
            </a:r>
            <a:endParaRPr lang="en-US" dirty="0"/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321061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9690B-AA47-483F-B285-668C720E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90616"/>
            <a:ext cx="10364451" cy="1596177"/>
          </a:xfrm>
        </p:spPr>
        <p:txBody>
          <a:bodyPr/>
          <a:lstStyle/>
          <a:p>
            <a:r>
              <a:rPr lang="en-US" dirty="0" err="1"/>
              <a:t>Polimorfismo</a:t>
            </a:r>
            <a:r>
              <a:rPr lang="en-US" dirty="0"/>
              <a:t> con </a:t>
            </a:r>
            <a:r>
              <a:rPr lang="en-US" dirty="0" err="1"/>
              <a:t>Interfaz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F00B2C-6158-4531-90A2-9DC845976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3" y="1102936"/>
            <a:ext cx="10364452" cy="545812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¿Qué es una interfaz?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Definición: </a:t>
            </a:r>
            <a:r>
              <a:rPr lang="es-SV" dirty="0"/>
              <a:t>Una interfaz en programación es un contrato o conjunto de reglas que define métodos (funciones) que una clase debe implementar obligatoriamente, sin especificar cómo funcionan internamente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s-SV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SV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s-SV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SV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IJugable</a:t>
            </a:r>
            <a:endParaRPr lang="es-SV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SV" sz="1800" b="0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s-SV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s-SV" sz="1800" b="0" dirty="0" err="1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s-SV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SV" sz="18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encender();</a:t>
            </a:r>
          </a:p>
          <a:p>
            <a:pPr marL="0" indent="0">
              <a:buNone/>
            </a:pPr>
            <a:r>
              <a:rPr lang="es-SV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s-SV" sz="1800" b="0" dirty="0" err="1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s-SV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SV" sz="18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apagar();</a:t>
            </a:r>
          </a:p>
          <a:p>
            <a:pPr marL="0" indent="0">
              <a:buNone/>
            </a:pPr>
            <a:r>
              <a:rPr lang="es-SV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s-SV" sz="1800" b="0" dirty="0" err="1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s-SV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SV" sz="18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jugar();</a:t>
            </a:r>
          </a:p>
          <a:p>
            <a:pPr marL="0" indent="0">
              <a:buNone/>
            </a:pPr>
            <a:r>
              <a:rPr lang="es-SV" sz="1800" dirty="0"/>
              <a:t>}</a:t>
            </a:r>
          </a:p>
          <a:p>
            <a:pPr marL="0" indent="0">
              <a:buNone/>
            </a:pPr>
            <a:endParaRPr lang="es-SV" sz="1800" dirty="0"/>
          </a:p>
          <a:p>
            <a:pPr marL="0" indent="0">
              <a:buNone/>
            </a:pPr>
            <a:r>
              <a:rPr lang="es-SV" sz="1800" dirty="0">
                <a:solidFill>
                  <a:srgbClr val="569CD6"/>
                </a:solidFill>
                <a:latin typeface="Consolas" panose="020B0609020204030204" pitchFamily="49" charset="0"/>
              </a:rPr>
              <a:t>Public Class </a:t>
            </a:r>
            <a:r>
              <a:rPr lang="es-SV" sz="1800" dirty="0" err="1">
                <a:solidFill>
                  <a:schemeClr val="accent2"/>
                </a:solidFill>
              </a:rPr>
              <a:t>VideoJuego</a:t>
            </a:r>
            <a:r>
              <a:rPr lang="es-SV" sz="1800" dirty="0"/>
              <a:t> : </a:t>
            </a:r>
            <a:r>
              <a:rPr lang="es-SV" sz="1800" dirty="0" err="1">
                <a:solidFill>
                  <a:srgbClr val="00B050"/>
                </a:solidFill>
              </a:rPr>
              <a:t>IJugable</a:t>
            </a:r>
            <a:endParaRPr lang="es-SV" sz="18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s-SV" sz="1800" dirty="0"/>
              <a:t>{</a:t>
            </a:r>
          </a:p>
          <a:p>
            <a:pPr marL="0" indent="0">
              <a:buNone/>
            </a:pPr>
            <a:r>
              <a:rPr lang="es-SV" sz="1800" dirty="0"/>
              <a:t>	</a:t>
            </a:r>
            <a:r>
              <a:rPr lang="es-SV" sz="1800" dirty="0">
                <a:solidFill>
                  <a:schemeClr val="accent3"/>
                </a:solidFill>
              </a:rPr>
              <a:t>//Todo el código de la clase y la definición reescribiendo los métodos de la interfaz </a:t>
            </a:r>
            <a:r>
              <a:rPr lang="es-SV" sz="1800" dirty="0" err="1">
                <a:solidFill>
                  <a:schemeClr val="accent3"/>
                </a:solidFill>
              </a:rPr>
              <a:t>IJugable</a:t>
            </a:r>
            <a:r>
              <a:rPr lang="es-SV" sz="1800" dirty="0">
                <a:solidFill>
                  <a:schemeClr val="accent3"/>
                </a:solidFill>
              </a:rPr>
              <a:t>.</a:t>
            </a:r>
          </a:p>
          <a:p>
            <a:pPr marL="0" indent="0">
              <a:buNone/>
            </a:pPr>
            <a:r>
              <a:rPr lang="es-SV" sz="1800" dirty="0"/>
              <a:t>}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518D536-3919-454D-A0E7-2A93D48C7535}"/>
              </a:ext>
            </a:extLst>
          </p:cNvPr>
          <p:cNvSpPr txBox="1"/>
          <p:nvPr/>
        </p:nvSpPr>
        <p:spPr>
          <a:xfrm>
            <a:off x="7682845" y="6485641"/>
            <a:ext cx="4251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 </a:t>
            </a:r>
            <a:r>
              <a:rPr lang="en-US" dirty="0" err="1"/>
              <a:t>archivo</a:t>
            </a:r>
            <a:r>
              <a:rPr lang="en-US" dirty="0"/>
              <a:t> </a:t>
            </a:r>
            <a:r>
              <a:rPr lang="en-US" dirty="0" err="1"/>
              <a:t>PolimorfismoInterface.cs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070237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82DDA-D7D7-451C-93B9-E75597A00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3" y="110075"/>
            <a:ext cx="10364451" cy="1596177"/>
          </a:xfrm>
        </p:spPr>
        <p:txBody>
          <a:bodyPr/>
          <a:lstStyle/>
          <a:p>
            <a:r>
              <a:rPr lang="es-SV" dirty="0"/>
              <a:t>Tarea 1 - Individual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EEDFE2-166F-48BB-B91D-CF9CEE80E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706252"/>
            <a:ext cx="10364452" cy="50621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SV" b="1" dirty="0"/>
              <a:t>Objetivo General</a:t>
            </a:r>
          </a:p>
          <a:p>
            <a:pPr marL="0" indent="0">
              <a:buNone/>
            </a:pPr>
            <a:r>
              <a:rPr lang="es-SV" dirty="0"/>
              <a:t>Investigar y analizar los fundamentos de la arquitectura de software, comprendiendo su importancia en el desarrollo de sistemas </a:t>
            </a:r>
            <a:r>
              <a:rPr lang="es-SV" dirty="0" err="1"/>
              <a:t>backend</a:t>
            </a:r>
            <a:r>
              <a:rPr lang="es-SV" dirty="0"/>
              <a:t> y cómo diferentes patrones arquitectónicos (como MVC) influyen en la calidad, mantenibilidad y escalabilidad del software.</a:t>
            </a:r>
          </a:p>
          <a:p>
            <a:pPr marL="0" indent="0">
              <a:buNone/>
            </a:pPr>
            <a:endParaRPr lang="es-SV" dirty="0"/>
          </a:p>
          <a:p>
            <a:pPr marL="0" indent="0" algn="l">
              <a:buNone/>
            </a:pP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Objetivos Específicos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Comprender qué es la arquitectura de software y por qué es crucial en proyectos de desarrollo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Identificar y describir al menos 3 patrones arquitectónicos diferentes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Analizar casos reales de aplicación de estos patrones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Reflexionar sobre la relación entre arquitectura y atributos de calidad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Desarrollar habilidades de investigación y documentación técnica</a:t>
            </a:r>
          </a:p>
          <a:p>
            <a:pPr marL="0" indent="0" algn="l">
              <a:buNone/>
            </a:pPr>
            <a:endParaRPr lang="es-SV" dirty="0">
              <a:solidFill>
                <a:srgbClr val="0F1115"/>
              </a:solidFill>
              <a:latin typeface="quote-cjk-patch"/>
            </a:endParaRPr>
          </a:p>
          <a:p>
            <a:pPr marL="0" indent="0" algn="l">
              <a:buNone/>
            </a:pPr>
            <a:r>
              <a:rPr lang="es-SV" dirty="0">
                <a:solidFill>
                  <a:srgbClr val="0F1115"/>
                </a:solidFill>
                <a:latin typeface="quote-cjk-patch"/>
              </a:rPr>
              <a:t>Se evaluara presentación y contenido</a:t>
            </a:r>
          </a:p>
          <a:p>
            <a:pPr marL="0" indent="0" algn="l">
              <a:buNone/>
            </a:pPr>
            <a:r>
              <a:rPr lang="es-SV" dirty="0">
                <a:solidFill>
                  <a:srgbClr val="0F1115"/>
                </a:solidFill>
                <a:latin typeface="quote-cjk-patch"/>
              </a:rPr>
              <a:t>Subir en </a:t>
            </a:r>
            <a:r>
              <a:rPr lang="es-SV" dirty="0" err="1">
                <a:solidFill>
                  <a:srgbClr val="0F1115"/>
                </a:solidFill>
                <a:latin typeface="quote-cjk-patch"/>
              </a:rPr>
              <a:t>teams</a:t>
            </a:r>
            <a:r>
              <a:rPr lang="es-SV" dirty="0">
                <a:solidFill>
                  <a:srgbClr val="0F1115"/>
                </a:solidFill>
                <a:latin typeface="quote-cjk-patch"/>
              </a:rPr>
              <a:t> documento formato PDF a mas tardar viernes 13 Marzo a la media noche</a:t>
            </a:r>
          </a:p>
          <a:p>
            <a:pPr marL="0" indent="0" algn="l">
              <a:buNone/>
            </a:pPr>
            <a:endParaRPr lang="es-SV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294506884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Intermedi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E347DCB393C534F9161A6E8941C3DD8" ma:contentTypeVersion="3" ma:contentTypeDescription="Crear nuevo documento." ma:contentTypeScope="" ma:versionID="61512e65a39c8587e39d98605cbaa544">
  <xsd:schema xmlns:xsd="http://www.w3.org/2001/XMLSchema" xmlns:xs="http://www.w3.org/2001/XMLSchema" xmlns:p="http://schemas.microsoft.com/office/2006/metadata/properties" xmlns:ns2="e117c542-0ee9-44bb-82f0-7089e9925f89" targetNamespace="http://schemas.microsoft.com/office/2006/metadata/properties" ma:root="true" ma:fieldsID="26971e7a51303c9b4ea934ce6bd8c03c" ns2:_="">
    <xsd:import namespace="e117c542-0ee9-44bb-82f0-7089e9925f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17c542-0ee9-44bb-82f0-7089e9925f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8C128EB-BD24-4E23-9224-88C47EC48035}"/>
</file>

<file path=customXml/itemProps2.xml><?xml version="1.0" encoding="utf-8"?>
<ds:datastoreItem xmlns:ds="http://schemas.openxmlformats.org/officeDocument/2006/customXml" ds:itemID="{43BB0FCE-5C45-4F2A-B200-AD3D12B899DF}"/>
</file>

<file path=customXml/itemProps3.xml><?xml version="1.0" encoding="utf-8"?>
<ds:datastoreItem xmlns:ds="http://schemas.openxmlformats.org/officeDocument/2006/customXml" ds:itemID="{9BB6980E-F2BB-4C18-88F7-7A113C01794A}"/>
</file>

<file path=docProps/app.xml><?xml version="1.0" encoding="utf-8"?>
<Properties xmlns="http://schemas.openxmlformats.org/officeDocument/2006/extended-properties" xmlns:vt="http://schemas.openxmlformats.org/officeDocument/2006/docPropsVTypes">
  <Template>Gota</Template>
  <TotalTime>157</TotalTime>
  <Words>962</Words>
  <Application>Microsoft Office PowerPoint</Application>
  <PresentationFormat>Panorámica</PresentationFormat>
  <Paragraphs>149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Arial</vt:lpstr>
      <vt:lpstr>Consolas</vt:lpstr>
      <vt:lpstr>quote-cjk-patch</vt:lpstr>
      <vt:lpstr>Tw Cen MT</vt:lpstr>
      <vt:lpstr>Gota</vt:lpstr>
      <vt:lpstr>Especialización III: Lenguaje de Programación</vt:lpstr>
      <vt:lpstr>POO Avanzada Encapsulamiento, Herencia y Polimorfismo</vt:lpstr>
      <vt:lpstr>El problema</vt:lpstr>
      <vt:lpstr>La Solución - Los Pilares de POO</vt:lpstr>
      <vt:lpstr>ENCAPSULAMIENTO - El Guardián de los Datos</vt:lpstr>
      <vt:lpstr>Analogía: El Cajero Automático</vt:lpstr>
      <vt:lpstr>Encapsulamiento en Código</vt:lpstr>
      <vt:lpstr>Encapsulamiento en Código</vt:lpstr>
      <vt:lpstr>MODIFICADORES DE ACCESO El Sistema de Permisos</vt:lpstr>
      <vt:lpstr>Ejercicio</vt:lpstr>
      <vt:lpstr>HERENCIA - El Poder de la Reutilización</vt:lpstr>
      <vt:lpstr>Analogía: Herencia</vt:lpstr>
      <vt:lpstr>Herencia en Código</vt:lpstr>
      <vt:lpstr>PERSONALIZANDO COMPORTAMIENTOS</vt:lpstr>
      <vt:lpstr>Ejercicio de herencia</vt:lpstr>
      <vt:lpstr>POLIMORFISMO - El Camaleón de POO</vt:lpstr>
      <vt:lpstr>Analogía: El Control Remoto Universal</vt:lpstr>
      <vt:lpstr>Analogía 2: Instrumentos Musicales</vt:lpstr>
      <vt:lpstr>Polimorfismo en Código</vt:lpstr>
      <vt:lpstr>Polimorfismo con Interfaz</vt:lpstr>
      <vt:lpstr>Tarea 1 - Individual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Cesar Palacios</dc:creator>
  <cp:lastModifiedBy>Cesar Palacios</cp:lastModifiedBy>
  <cp:revision>5</cp:revision>
  <dcterms:created xsi:type="dcterms:W3CDTF">2026-03-02T06:41:25Z</dcterms:created>
  <dcterms:modified xsi:type="dcterms:W3CDTF">2026-03-03T00:13:23Z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0x010100EE347DCB393C534F9161A6E8941C3DD8</vt:lpwstr>
  </property>
</Properties>
</file>