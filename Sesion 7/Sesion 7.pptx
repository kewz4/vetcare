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  <p:sldId id="267" r:id="rId12"/>
    <p:sldId id="268" r:id="rId13"/>
    <p:sldId id="264" r:id="rId14"/>
    <p:sldId id="269" r:id="rId15"/>
    <p:sldId id="271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94690" autoAdjust="0"/>
  </p:normalViewPr>
  <p:slideViewPr>
    <p:cSldViewPr snapToGrid="0">
      <p:cViewPr varScale="1">
        <p:scale>
          <a:sx n="81" d="100"/>
          <a:sy n="81" d="100"/>
        </p:scale>
        <p:origin x="720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SV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E8FF78-F077-4362-BF3E-FB21271D464D}" type="datetimeFigureOut">
              <a:rPr lang="es-SV" smtClean="0"/>
              <a:t>16/3/2026</a:t>
            </a:fld>
            <a:endParaRPr lang="es-SV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SV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SV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SV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5BBD30-9FDF-4D07-AE1E-E12076745DE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297997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SV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BBD30-9FDF-4D07-AE1E-E12076745DEA}" type="slidenum">
              <a:rPr lang="es-SV" smtClean="0"/>
              <a:t>8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165021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53FD-0600-4E33-A593-22413F23A44B}" type="datetimeFigureOut">
              <a:rPr lang="es-SV" smtClean="0"/>
              <a:t>16/3/2026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9837-F30A-412F-892D-749DE7602695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762120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53FD-0600-4E33-A593-22413F23A44B}" type="datetimeFigureOut">
              <a:rPr lang="es-SV" smtClean="0"/>
              <a:t>16/3/2026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9837-F30A-412F-892D-749DE7602695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808407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53FD-0600-4E33-A593-22413F23A44B}" type="datetimeFigureOut">
              <a:rPr lang="es-SV" smtClean="0"/>
              <a:t>16/3/2026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9837-F30A-412F-892D-749DE7602695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657986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53FD-0600-4E33-A593-22413F23A44B}" type="datetimeFigureOut">
              <a:rPr lang="es-SV" smtClean="0"/>
              <a:t>16/3/2026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9837-F30A-412F-892D-749DE7602695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906132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53FD-0600-4E33-A593-22413F23A44B}" type="datetimeFigureOut">
              <a:rPr lang="es-SV" smtClean="0"/>
              <a:t>16/3/2026</a:t>
            </a:fld>
            <a:endParaRPr lang="es-S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9837-F30A-412F-892D-749DE7602695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457064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53FD-0600-4E33-A593-22413F23A44B}" type="datetimeFigureOut">
              <a:rPr lang="es-SV" smtClean="0"/>
              <a:t>16/3/2026</a:t>
            </a:fld>
            <a:endParaRPr lang="es-S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9837-F30A-412F-892D-749DE7602695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710135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53FD-0600-4E33-A593-22413F23A44B}" type="datetimeFigureOut">
              <a:rPr lang="es-SV" smtClean="0"/>
              <a:t>16/3/2026</a:t>
            </a:fld>
            <a:endParaRPr lang="es-SV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9837-F30A-412F-892D-749DE7602695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094295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53FD-0600-4E33-A593-22413F23A44B}" type="datetimeFigureOut">
              <a:rPr lang="es-SV" smtClean="0"/>
              <a:t>16/3/2026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9837-F30A-412F-892D-749DE7602695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010261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53FD-0600-4E33-A593-22413F23A44B}" type="datetimeFigureOut">
              <a:rPr lang="es-SV" smtClean="0"/>
              <a:t>16/3/2026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9837-F30A-412F-892D-749DE7602695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729876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53FD-0600-4E33-A593-22413F23A44B}" type="datetimeFigureOut">
              <a:rPr lang="es-SV" smtClean="0"/>
              <a:t>16/3/2026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9837-F30A-412F-892D-749DE7602695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015136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53FD-0600-4E33-A593-22413F23A44B}" type="datetimeFigureOut">
              <a:rPr lang="es-SV" smtClean="0"/>
              <a:t>16/3/2026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9837-F30A-412F-892D-749DE7602695}" type="slidenum">
              <a:rPr lang="es-SV" smtClean="0"/>
              <a:t>‹Nº›</a:t>
            </a:fld>
            <a:endParaRPr lang="es-SV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7311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53FD-0600-4E33-A593-22413F23A44B}" type="datetimeFigureOut">
              <a:rPr lang="es-SV" smtClean="0"/>
              <a:t>16/3/2026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9837-F30A-412F-892D-749DE7602695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912056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53FD-0600-4E33-A593-22413F23A44B}" type="datetimeFigureOut">
              <a:rPr lang="es-SV" smtClean="0"/>
              <a:t>16/3/2026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9837-F30A-412F-892D-749DE7602695}" type="slidenum">
              <a:rPr lang="es-SV" smtClean="0"/>
              <a:t>‹Nº›</a:t>
            </a:fld>
            <a:endParaRPr lang="es-SV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187921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53FD-0600-4E33-A593-22413F23A44B}" type="datetimeFigureOut">
              <a:rPr lang="es-SV" smtClean="0"/>
              <a:t>16/3/2026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9837-F30A-412F-892D-749DE7602695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059831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53FD-0600-4E33-A593-22413F23A44B}" type="datetimeFigureOut">
              <a:rPr lang="es-SV" smtClean="0"/>
              <a:t>16/3/2026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9837-F30A-412F-892D-749DE7602695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9685052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53FD-0600-4E33-A593-22413F23A44B}" type="datetimeFigureOut">
              <a:rPr lang="es-SV" smtClean="0"/>
              <a:t>16/3/2026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9837-F30A-412F-892D-749DE7602695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068756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953FD-0600-4E33-A593-22413F23A44B}" type="datetimeFigureOut">
              <a:rPr lang="es-SV" smtClean="0"/>
              <a:t>16/3/2026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7379837-F30A-412F-892D-749DE7602695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329142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2F97EF-6935-401A-81C8-0A23F4312E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SV" dirty="0"/>
              <a:t>Especialización III:</a:t>
            </a:r>
            <a:br>
              <a:rPr lang="es-SV" dirty="0"/>
            </a:br>
            <a:r>
              <a:rPr lang="es-SV" dirty="0"/>
              <a:t>Lenguaje de Programación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7B6CA2-2C6B-444B-A3A7-F06C80DC72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SV" dirty="0"/>
              <a:t>Programación Creativa</a:t>
            </a:r>
          </a:p>
        </p:txBody>
      </p:sp>
    </p:spTree>
    <p:extLst>
      <p:ext uri="{BB962C8B-B14F-4D97-AF65-F5344CB8AC3E}">
        <p14:creationId xmlns:p14="http://schemas.microsoft.com/office/powerpoint/2010/main" val="1096283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CC0A18-AD6C-4C16-AE1F-71EACD83B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67303"/>
            <a:ext cx="10515600" cy="1325563"/>
          </a:xfrm>
        </p:spPr>
        <p:txBody>
          <a:bodyPr/>
          <a:lstStyle/>
          <a:p>
            <a:r>
              <a:rPr lang="es-SV" dirty="0"/>
              <a:t>Construyendo tu Primera API con MVC y POO</a:t>
            </a:r>
          </a:p>
        </p:txBody>
      </p:sp>
    </p:spTree>
    <p:extLst>
      <p:ext uri="{BB962C8B-B14F-4D97-AF65-F5344CB8AC3E}">
        <p14:creationId xmlns:p14="http://schemas.microsoft.com/office/powerpoint/2010/main" val="240884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8831A4-F811-4E1B-9535-74C990089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Estructura del proyecto C#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2072DD9-075F-4FC6-8E23-52001EF92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274" y="1690688"/>
            <a:ext cx="6059956" cy="446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577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863DFF-DB82-452D-ACFE-39FC5BA88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Estructura Estándar en ASP.NET Core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37C3C03-AB93-42C8-BB86-014336761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044" y="1394353"/>
            <a:ext cx="4815061" cy="525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452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7416B7-29DA-426D-943C-8DFC269F6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Carpeta </a:t>
            </a:r>
            <a:r>
              <a:rPr lang="es-SV" dirty="0" err="1"/>
              <a:t>Models</a:t>
            </a:r>
            <a:r>
              <a:rPr lang="es-SV" dirty="0"/>
              <a:t> - El Corazón de los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338F62-EB98-45E2-ABF2-E853BD0DF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SV" dirty="0"/>
              <a:t>¿Qué va aquí?</a:t>
            </a:r>
          </a:p>
          <a:p>
            <a:r>
              <a:rPr lang="es-SV" dirty="0"/>
              <a:t>Las clases que representan las entidades del negocio (POCO: </a:t>
            </a:r>
            <a:r>
              <a:rPr lang="es-SV" dirty="0" err="1"/>
              <a:t>Plain</a:t>
            </a:r>
            <a:r>
              <a:rPr lang="es-SV" dirty="0"/>
              <a:t> Old CLR </a:t>
            </a:r>
            <a:r>
              <a:rPr lang="es-SV" dirty="0" err="1"/>
              <a:t>Objects</a:t>
            </a:r>
            <a:r>
              <a:rPr lang="es-SV" dirty="0"/>
              <a:t>).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Características:</a:t>
            </a:r>
          </a:p>
          <a:p>
            <a:pPr marL="0" indent="0">
              <a:buNone/>
            </a:pPr>
            <a:r>
              <a:rPr lang="es-SV" dirty="0"/>
              <a:t>✅ Solo propiedades y métodos de la entidad</a:t>
            </a:r>
          </a:p>
          <a:p>
            <a:pPr marL="0" indent="0">
              <a:buNone/>
            </a:pPr>
            <a:r>
              <a:rPr lang="es-SV" dirty="0"/>
              <a:t>✅ Sin lógica de acceso a datos</a:t>
            </a:r>
          </a:p>
          <a:p>
            <a:pPr marL="0" indent="0">
              <a:buNone/>
            </a:pPr>
            <a:r>
              <a:rPr lang="es-SV" dirty="0"/>
              <a:t>✅ Sin lógica de presentación</a:t>
            </a:r>
          </a:p>
          <a:p>
            <a:pPr marL="0" indent="0">
              <a:buNone/>
            </a:pPr>
            <a:r>
              <a:rPr lang="es-SV" dirty="0"/>
              <a:t>✅ Pueden tener validaciones simples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ECAE7DA-1562-416C-82EA-35861C831A84}"/>
              </a:ext>
            </a:extLst>
          </p:cNvPr>
          <p:cNvSpPr txBox="1"/>
          <p:nvPr/>
        </p:nvSpPr>
        <p:spPr>
          <a:xfrm>
            <a:off x="8692587" y="6176963"/>
            <a:ext cx="2384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dirty="0"/>
              <a:t>Ver archivo </a:t>
            </a:r>
            <a:r>
              <a:rPr lang="es-SV" dirty="0" err="1"/>
              <a:t>Producto.cs</a:t>
            </a:r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3250482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0F21E3-BE57-442E-B79B-225AC38E3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 err="1"/>
              <a:t>Controllers</a:t>
            </a:r>
            <a:r>
              <a:rPr lang="es-SV" dirty="0"/>
              <a:t> - Los Recepcionistas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918819-1CB0-4260-B72A-5F1D61B78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SV" dirty="0"/>
              <a:t>¿Qué va aquí?</a:t>
            </a:r>
          </a:p>
          <a:p>
            <a:r>
              <a:rPr lang="es-SV" dirty="0"/>
              <a:t>Clases que reciben las peticiones HTTP y coordinan la respuesta.</a:t>
            </a:r>
          </a:p>
          <a:p>
            <a:endParaRPr lang="es-SV" dirty="0"/>
          </a:p>
          <a:p>
            <a:pPr marL="0" indent="0">
              <a:buNone/>
            </a:pPr>
            <a:r>
              <a:rPr lang="es-SV" dirty="0"/>
              <a:t>Responsabilidades del Controlador:</a:t>
            </a:r>
          </a:p>
          <a:p>
            <a:r>
              <a:rPr lang="es-SV" dirty="0"/>
              <a:t>✅ Recibir peticiones HTTP</a:t>
            </a:r>
          </a:p>
          <a:p>
            <a:r>
              <a:rPr lang="es-SV" dirty="0"/>
              <a:t>✅ Validar datos de entrada (</a:t>
            </a:r>
            <a:r>
              <a:rPr lang="es-SV" dirty="0" err="1"/>
              <a:t>model</a:t>
            </a:r>
            <a:r>
              <a:rPr lang="es-SV" dirty="0"/>
              <a:t> </a:t>
            </a:r>
            <a:r>
              <a:rPr lang="es-SV" dirty="0" err="1"/>
              <a:t>binding</a:t>
            </a:r>
            <a:r>
              <a:rPr lang="es-SV" dirty="0"/>
              <a:t>)</a:t>
            </a:r>
          </a:p>
          <a:p>
            <a:r>
              <a:rPr lang="es-SV" dirty="0"/>
              <a:t>✅ Llamar al servicio correspondiente</a:t>
            </a:r>
          </a:p>
          <a:p>
            <a:r>
              <a:rPr lang="es-SV" dirty="0"/>
              <a:t>✅ Devolver respuestas HTTP apropiadas</a:t>
            </a:r>
          </a:p>
          <a:p>
            <a:r>
              <a:rPr lang="es-SV" dirty="0"/>
              <a:t>❌ NO debe contener lógica de negocio</a:t>
            </a:r>
          </a:p>
          <a:p>
            <a:r>
              <a:rPr lang="es-SV" dirty="0"/>
              <a:t>❌ NO debe acceder directamente a datos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EE6CB7A-EF9C-49B6-9BF8-587FB15FC9D1}"/>
              </a:ext>
            </a:extLst>
          </p:cNvPr>
          <p:cNvSpPr txBox="1"/>
          <p:nvPr/>
        </p:nvSpPr>
        <p:spPr>
          <a:xfrm>
            <a:off x="8403221" y="6342706"/>
            <a:ext cx="358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dirty="0"/>
              <a:t>Ver archivo </a:t>
            </a:r>
            <a:r>
              <a:rPr lang="es-SV" dirty="0" err="1"/>
              <a:t>ProductosController.cs</a:t>
            </a:r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3462663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A1F0AC-C27C-4164-9ACD-F9B0F2497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 err="1"/>
              <a:t>Services</a:t>
            </a:r>
            <a:r>
              <a:rPr lang="es-SV" dirty="0"/>
              <a:t> - La Lógica de Negocio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E33C73-B332-4807-9F52-7AA4DA420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SV" dirty="0"/>
              <a:t>¿Qué va aquí?</a:t>
            </a:r>
          </a:p>
          <a:p>
            <a:r>
              <a:rPr lang="es-SV" dirty="0"/>
              <a:t>Clases que contienen la lógica de la aplicación, las reglas de negocio.</a:t>
            </a:r>
          </a:p>
          <a:p>
            <a:r>
              <a:rPr lang="es-SV" dirty="0"/>
              <a:t>Se realizará la separación: Interfaz + Implementación</a:t>
            </a:r>
          </a:p>
          <a:p>
            <a:endParaRPr lang="es-SV" dirty="0"/>
          </a:p>
          <a:p>
            <a:endParaRPr lang="es-SV" dirty="0"/>
          </a:p>
          <a:p>
            <a:r>
              <a:rPr lang="es-SV" dirty="0"/>
              <a:t>Beneficios:</a:t>
            </a:r>
          </a:p>
          <a:p>
            <a:r>
              <a:rPr lang="es-SV" dirty="0"/>
              <a:t>✅ Flexibilidad: Cambias implementación sin modificar controlador</a:t>
            </a:r>
          </a:p>
          <a:p>
            <a:r>
              <a:rPr lang="es-SV" dirty="0"/>
              <a:t>✅ </a:t>
            </a:r>
            <a:r>
              <a:rPr lang="es-SV" dirty="0" err="1"/>
              <a:t>Testeabilidad</a:t>
            </a:r>
            <a:r>
              <a:rPr lang="es-SV" dirty="0"/>
              <a:t>: Pruebas con implementaciones </a:t>
            </a:r>
            <a:r>
              <a:rPr lang="es-SV" dirty="0" err="1"/>
              <a:t>mock</a:t>
            </a:r>
            <a:endParaRPr lang="es-SV" dirty="0"/>
          </a:p>
          <a:p>
            <a:r>
              <a:rPr lang="es-SV" dirty="0"/>
              <a:t>✅ Mantenibilidad: Cada implementación aislada</a:t>
            </a:r>
          </a:p>
          <a:p>
            <a:r>
              <a:rPr lang="es-SV" dirty="0"/>
              <a:t>✅ Escalabilidad: Puedes tener múltiples versiones</a:t>
            </a:r>
          </a:p>
          <a:p>
            <a:endParaRPr lang="es-SV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E30E641-87A4-4A85-8491-350451E076F5}"/>
              </a:ext>
            </a:extLst>
          </p:cNvPr>
          <p:cNvSpPr txBox="1"/>
          <p:nvPr/>
        </p:nvSpPr>
        <p:spPr>
          <a:xfrm>
            <a:off x="8576841" y="6065134"/>
            <a:ext cx="29168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dirty="0"/>
              <a:t>Ver </a:t>
            </a:r>
            <a:r>
              <a:rPr lang="es-SV" dirty="0" err="1"/>
              <a:t>IProductoService.cs</a:t>
            </a:r>
            <a:r>
              <a:rPr lang="es-SV" dirty="0"/>
              <a:t> y </a:t>
            </a:r>
            <a:r>
              <a:rPr lang="es-SV" dirty="0" err="1"/>
              <a:t>ProductoService.cs</a:t>
            </a:r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1419433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0D4CAC-2FE4-41BB-A3F8-9D863C551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 err="1"/>
              <a:t>DTOs</a:t>
            </a:r>
            <a:r>
              <a:rPr lang="es-SV" dirty="0"/>
              <a:t> - Data Transfer </a:t>
            </a:r>
            <a:r>
              <a:rPr lang="es-SV" dirty="0" err="1"/>
              <a:t>Objects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C18C1A-F972-4C06-828C-582C66382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SV" dirty="0"/>
              <a:t>¿Qué son y por qué existen?</a:t>
            </a:r>
          </a:p>
          <a:p>
            <a:pPr marL="0" indent="0">
              <a:buNone/>
            </a:pPr>
            <a:r>
              <a:rPr lang="es-SV" dirty="0"/>
              <a:t>Problema: Si envías el modelo completo, puedes exponer información sensible.</a:t>
            </a:r>
          </a:p>
          <a:p>
            <a:pPr marL="0" indent="0">
              <a:buNone/>
            </a:pPr>
            <a:r>
              <a:rPr lang="es-SV" dirty="0"/>
              <a:t>Los </a:t>
            </a:r>
            <a:r>
              <a:rPr lang="es-SV" b="1" dirty="0" err="1"/>
              <a:t>DTOs</a:t>
            </a:r>
            <a:r>
              <a:rPr lang="es-SV" b="1" dirty="0"/>
              <a:t> (Data Transfer </a:t>
            </a:r>
            <a:r>
              <a:rPr lang="es-SV" b="1" dirty="0" err="1"/>
              <a:t>Objects</a:t>
            </a:r>
            <a:r>
              <a:rPr lang="es-SV" b="1" dirty="0"/>
              <a:t>) </a:t>
            </a:r>
            <a:r>
              <a:rPr lang="es-SV" dirty="0"/>
              <a:t>son objetos simples que transportan datos entre capas de la aplicación, específicamente entre el cliente y el servidor (o entre procesos).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Características Fundamentales:</a:t>
            </a:r>
          </a:p>
          <a:p>
            <a:pPr marL="0" indent="0">
              <a:buNone/>
            </a:pPr>
            <a:r>
              <a:rPr lang="es-SV" dirty="0"/>
              <a:t>✅ Solo propiedades (</a:t>
            </a:r>
            <a:r>
              <a:rPr lang="es-SV" dirty="0" err="1"/>
              <a:t>get</a:t>
            </a:r>
            <a:r>
              <a:rPr lang="es-SV" dirty="0"/>
              <a:t>/set)</a:t>
            </a:r>
          </a:p>
          <a:p>
            <a:pPr marL="0" indent="0">
              <a:buNone/>
            </a:pPr>
            <a:r>
              <a:rPr lang="es-SV" dirty="0"/>
              <a:t>✅ Sin métodos de negocio</a:t>
            </a:r>
          </a:p>
          <a:p>
            <a:pPr marL="0" indent="0">
              <a:buNone/>
            </a:pPr>
            <a:r>
              <a:rPr lang="es-SV" dirty="0"/>
              <a:t>✅ Sin lógica de validación compleja</a:t>
            </a:r>
          </a:p>
          <a:p>
            <a:pPr marL="0" indent="0">
              <a:buNone/>
            </a:pPr>
            <a:r>
              <a:rPr lang="es-SV" dirty="0"/>
              <a:t>✅ </a:t>
            </a:r>
            <a:r>
              <a:rPr lang="es-SV" dirty="0" err="1"/>
              <a:t>Serializables</a:t>
            </a:r>
            <a:r>
              <a:rPr lang="es-SV" dirty="0"/>
              <a:t> (JSON/XML)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2078263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B5E9E2-4C6A-4298-879F-26C3B77FB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 err="1"/>
              <a:t>DTOs</a:t>
            </a:r>
            <a:r>
              <a:rPr lang="es-SV" dirty="0"/>
              <a:t> - Data Transfer </a:t>
            </a:r>
            <a:r>
              <a:rPr lang="es-SV" dirty="0" err="1"/>
              <a:t>Objects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3014EC-38E8-4875-9454-19D25035E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SV" b="1" dirty="0"/>
              <a:t>El Problema: Exponer el Modelo Interno es PELIGROSO</a:t>
            </a:r>
          </a:p>
          <a:p>
            <a:endParaRPr lang="es-SV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DD5158B-CF7C-4535-92CE-A5412F180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37" y="2602895"/>
            <a:ext cx="4191363" cy="323116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8E6A859-B6BA-413F-94F4-827FE3C21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93" y="2831515"/>
            <a:ext cx="5997460" cy="277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048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D4A094-D20F-4A9B-B6FF-1871BDFED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 err="1"/>
              <a:t>DTOs</a:t>
            </a:r>
            <a:r>
              <a:rPr lang="es-SV" dirty="0"/>
              <a:t> - Data Transfer </a:t>
            </a:r>
            <a:r>
              <a:rPr lang="es-SV" dirty="0" err="1"/>
              <a:t>Objects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848B22-57C0-465C-A146-177A20D57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SV" b="1" dirty="0"/>
              <a:t>El Problema Inverso: Recibir Datos Incorrectos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93C43D2-D766-4ACC-A839-F33E08A1E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32" y="3016344"/>
            <a:ext cx="5456393" cy="176799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9FB36A3-589D-45DD-9DF8-50343BF03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363" y="2275185"/>
            <a:ext cx="5486875" cy="390177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A711B61F-0A72-44D4-97C2-A786C8E6C0E4}"/>
              </a:ext>
            </a:extLst>
          </p:cNvPr>
          <p:cNvSpPr txBox="1"/>
          <p:nvPr/>
        </p:nvSpPr>
        <p:spPr>
          <a:xfrm>
            <a:off x="8601406" y="6115129"/>
            <a:ext cx="40912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dirty="0"/>
              <a:t>Ver Archivos </a:t>
            </a:r>
            <a:r>
              <a:rPr lang="es-SV" dirty="0" err="1"/>
              <a:t>ProductoEjemplo</a:t>
            </a:r>
            <a:r>
              <a:rPr lang="es-SV" dirty="0"/>
              <a:t>, </a:t>
            </a:r>
            <a:r>
              <a:rPr lang="es-SV" dirty="0" err="1"/>
              <a:t>ProductoDTO</a:t>
            </a:r>
            <a:r>
              <a:rPr lang="es-SV" dirty="0"/>
              <a:t> y </a:t>
            </a:r>
            <a:r>
              <a:rPr lang="es-SV" dirty="0" err="1"/>
              <a:t>CrearProductoDTO</a:t>
            </a:r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2737832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7382F9-9176-4D18-9749-AAA258DC7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Data </a:t>
            </a:r>
            <a:r>
              <a:rPr lang="es-SV" dirty="0" err="1"/>
              <a:t>Annotations</a:t>
            </a:r>
            <a:r>
              <a:rPr lang="es-SV" dirty="0"/>
              <a:t> en C# - Validación y Metadatos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6F3000-CF09-4AE5-B855-43E909BC1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8227"/>
            <a:ext cx="10515600" cy="43387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SV" dirty="0"/>
              <a:t>¿Qué son Data </a:t>
            </a:r>
            <a:r>
              <a:rPr lang="es-SV" dirty="0" err="1"/>
              <a:t>Annotations</a:t>
            </a:r>
            <a:r>
              <a:rPr lang="es-SV" dirty="0"/>
              <a:t>?</a:t>
            </a:r>
          </a:p>
          <a:p>
            <a:pPr marL="0" indent="0">
              <a:buNone/>
            </a:pPr>
            <a:r>
              <a:rPr lang="es-SV" dirty="0"/>
              <a:t>Data </a:t>
            </a:r>
            <a:r>
              <a:rPr lang="es-SV" dirty="0" err="1"/>
              <a:t>Annotations</a:t>
            </a:r>
            <a:r>
              <a:rPr lang="es-SV" dirty="0"/>
              <a:t> son atributos (etiquetas) que se colocan sobre las propiedades de una clase para:</a:t>
            </a:r>
          </a:p>
          <a:p>
            <a:endParaRPr lang="es-SV" dirty="0"/>
          </a:p>
          <a:p>
            <a:r>
              <a:rPr lang="es-SV" dirty="0"/>
              <a:t>✅ Validar datos automáticamente</a:t>
            </a:r>
          </a:p>
          <a:p>
            <a:r>
              <a:rPr lang="es-SV" dirty="0"/>
              <a:t>✅ Especificar reglas de formato</a:t>
            </a:r>
          </a:p>
          <a:p>
            <a:r>
              <a:rPr lang="es-SV" dirty="0"/>
              <a:t>✅ Documentar el comportamiento esperado</a:t>
            </a:r>
          </a:p>
          <a:p>
            <a:r>
              <a:rPr lang="es-SV" dirty="0"/>
              <a:t>✅ Controlar cómo se muestran los datos</a:t>
            </a:r>
          </a:p>
        </p:txBody>
      </p:sp>
    </p:spTree>
    <p:extLst>
      <p:ext uri="{BB962C8B-B14F-4D97-AF65-F5344CB8AC3E}">
        <p14:creationId xmlns:p14="http://schemas.microsoft.com/office/powerpoint/2010/main" val="3489150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90197-A808-42DA-9ADC-CB9D01E6B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Data </a:t>
            </a:r>
            <a:r>
              <a:rPr lang="es-SV" dirty="0" err="1"/>
              <a:t>Annotations</a:t>
            </a:r>
            <a:r>
              <a:rPr lang="es-SV" dirty="0"/>
              <a:t> en C# - Validación y Metadatos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2EEF23B-ECE4-4781-8581-81E6F68BA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289" y="2676210"/>
            <a:ext cx="6416584" cy="277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550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4124AE-B2FE-41F6-A293-105768D36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¿Cómo viajan los datos?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E2BEA1C-652B-4129-9AE5-A18D11632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369" y="1319752"/>
            <a:ext cx="7897305" cy="526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84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8ED2B-3C68-41B9-8BD3-8E4167637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Ejercicio Evaluado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2C74B4-8475-410C-9C1B-7158385E1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SV" dirty="0"/>
              <a:t>En grupo de 3 para discutir y crear lo siguiente:</a:t>
            </a:r>
          </a:p>
          <a:p>
            <a:pPr marL="0" indent="0">
              <a:buNone/>
            </a:pPr>
            <a:r>
              <a:rPr lang="es-SV" dirty="0"/>
              <a:t>Deben Extender el API para manejar </a:t>
            </a:r>
            <a:r>
              <a:rPr lang="es-SV" dirty="0" err="1"/>
              <a:t>tambien</a:t>
            </a:r>
            <a:r>
              <a:rPr lang="es-SV" dirty="0"/>
              <a:t> “Proveedores”/”Clientes”</a:t>
            </a:r>
          </a:p>
          <a:p>
            <a:r>
              <a:rPr lang="es-SV" dirty="0"/>
              <a:t>Crear Controlador, Modelo y Servicios</a:t>
            </a:r>
          </a:p>
          <a:p>
            <a:r>
              <a:rPr lang="es-SV" dirty="0"/>
              <a:t>No olvidar los DTOS correspondientes.</a:t>
            </a:r>
          </a:p>
          <a:p>
            <a:r>
              <a:rPr lang="es-SV" dirty="0"/>
              <a:t>Se deben poder ejecutar consulta, creación y actualización</a:t>
            </a:r>
          </a:p>
          <a:p>
            <a:endParaRPr lang="es-SV" dirty="0"/>
          </a:p>
          <a:p>
            <a:pPr marL="0" indent="0">
              <a:buNone/>
            </a:pPr>
            <a:r>
              <a:rPr lang="es-SV" dirty="0"/>
              <a:t>Enviar un archivo ZIP con el proyecto Extendido.</a:t>
            </a:r>
          </a:p>
        </p:txBody>
      </p:sp>
    </p:spTree>
    <p:extLst>
      <p:ext uri="{BB962C8B-B14F-4D97-AF65-F5344CB8AC3E}">
        <p14:creationId xmlns:p14="http://schemas.microsoft.com/office/powerpoint/2010/main" val="2171178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D5F6E8-5065-477B-8E6E-D90C46267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Construir con 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27C6A5-EAB9-4435-B0C2-81E0BB6D6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s-SV" b="1" dirty="0"/>
              <a:t>PROMT: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Toma todo el contexto del proyecto actual y necesito que generes el código completo para una API, aplicar POO, MVC y buenas prácticas en ASP.NET Core. La API debe ser de "Gestión de Productos" y debe incluir: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1. Modelo Producto con encapsulamiento (propiedades privadas, métodos públicos)</a:t>
            </a:r>
          </a:p>
          <a:p>
            <a:pPr marL="0" indent="0">
              <a:buNone/>
            </a:pPr>
            <a:r>
              <a:rPr lang="es-SV" dirty="0"/>
              <a:t>2. Servicio con lógica de negocio usando </a:t>
            </a:r>
            <a:r>
              <a:rPr lang="es-SV" dirty="0" err="1"/>
              <a:t>List</a:t>
            </a:r>
            <a:r>
              <a:rPr lang="es-SV" dirty="0"/>
              <a:t> en memoria</a:t>
            </a:r>
          </a:p>
          <a:p>
            <a:pPr marL="0" indent="0">
              <a:buNone/>
            </a:pPr>
            <a:r>
              <a:rPr lang="es-SV" dirty="0"/>
              <a:t>3. </a:t>
            </a:r>
            <a:r>
              <a:rPr lang="es-SV" dirty="0" err="1"/>
              <a:t>DTOs</a:t>
            </a:r>
            <a:r>
              <a:rPr lang="es-SV" dirty="0"/>
              <a:t> para separar la capa de API del modelo interno</a:t>
            </a:r>
          </a:p>
          <a:p>
            <a:pPr marL="0" indent="0">
              <a:buNone/>
            </a:pPr>
            <a:r>
              <a:rPr lang="es-SV" dirty="0"/>
              <a:t>4. Controlador con </a:t>
            </a:r>
            <a:r>
              <a:rPr lang="es-SV" dirty="0" err="1"/>
              <a:t>endpoints</a:t>
            </a:r>
            <a:r>
              <a:rPr lang="es-SV" dirty="0"/>
              <a:t> </a:t>
            </a:r>
            <a:r>
              <a:rPr lang="es-SV" dirty="0" err="1"/>
              <a:t>RESTful</a:t>
            </a:r>
            <a:r>
              <a:rPr lang="es-SV" dirty="0"/>
              <a:t> completos</a:t>
            </a:r>
          </a:p>
          <a:p>
            <a:pPr marL="0" indent="0">
              <a:buNone/>
            </a:pPr>
            <a:r>
              <a:rPr lang="es-SV" dirty="0"/>
              <a:t>5. Validaciones y manejo de errores</a:t>
            </a:r>
          </a:p>
          <a:p>
            <a:pPr marL="0" indent="0">
              <a:buNone/>
            </a:pPr>
            <a:r>
              <a:rPr lang="es-SV" dirty="0"/>
              <a:t>6. Comentarios explicativos en cada clase y método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El código debe ser claro y seguir las mejores prácticas. Incluye también instrucciones de cómo probarlo con </a:t>
            </a:r>
            <a:r>
              <a:rPr lang="es-SV" dirty="0" err="1"/>
              <a:t>Postman</a:t>
            </a:r>
            <a:r>
              <a:rPr lang="es-SV" dirty="0"/>
              <a:t> o </a:t>
            </a:r>
            <a:r>
              <a:rPr lang="es-SV" dirty="0" err="1"/>
              <a:t>Swagger</a:t>
            </a:r>
            <a:r>
              <a:rPr lang="es-SV" dirty="0"/>
              <a:t>.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Genera todo el código con la estructura de carpetas dentro del proyecto actual.</a:t>
            </a:r>
          </a:p>
        </p:txBody>
      </p:sp>
    </p:spTree>
    <p:extLst>
      <p:ext uri="{BB962C8B-B14F-4D97-AF65-F5344CB8AC3E}">
        <p14:creationId xmlns:p14="http://schemas.microsoft.com/office/powerpoint/2010/main" val="1146576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7CCCBB-AE32-4795-95B7-0BF238623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Tarea en grupo 2 (Máximo 3 integrantes)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B74679-5239-4B2B-B402-253A73CA8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SV" dirty="0"/>
              <a:t>Crea una API desde Cero. El API puede estar relacionado a lo que elijan.</a:t>
            </a:r>
          </a:p>
          <a:p>
            <a:pPr marL="0" indent="0">
              <a:buNone/>
            </a:pPr>
            <a:r>
              <a:rPr lang="es-SV" dirty="0"/>
              <a:t>Sugerencias: Empleados, Tareas, Clientes, Pedidos, Pagos, Libros…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Crear la estructura de archivos y Carpetas.</a:t>
            </a:r>
          </a:p>
          <a:p>
            <a:pPr marL="0" indent="0">
              <a:buNone/>
            </a:pPr>
            <a:r>
              <a:rPr lang="es-SV" dirty="0"/>
              <a:t>Crear Controladores, Modelos, </a:t>
            </a:r>
            <a:r>
              <a:rPr lang="es-SV" dirty="0" err="1"/>
              <a:t>DTOs</a:t>
            </a:r>
            <a:r>
              <a:rPr lang="es-SV" dirty="0"/>
              <a:t> y Servicios</a:t>
            </a:r>
          </a:p>
          <a:p>
            <a:pPr marL="0" indent="0">
              <a:buNone/>
            </a:pPr>
            <a:r>
              <a:rPr lang="es-SV" dirty="0"/>
              <a:t>El API debe tener al menos 3 métodos: crear, listar, actualizar, etc.</a:t>
            </a:r>
          </a:p>
          <a:p>
            <a:pPr marL="0" indent="0">
              <a:buNone/>
            </a:pPr>
            <a:r>
              <a:rPr lang="es-SV" dirty="0"/>
              <a:t>Generar documentación del proyecto explicando como funcionan cada capa según el negocio.</a:t>
            </a:r>
          </a:p>
          <a:p>
            <a:pPr marL="0" indent="0">
              <a:buNone/>
            </a:pPr>
            <a:r>
              <a:rPr lang="es-SV" dirty="0"/>
              <a:t>Pueden auxiliarse de IA: incluir </a:t>
            </a:r>
            <a:r>
              <a:rPr lang="es-SV" dirty="0" err="1"/>
              <a:t>promt</a:t>
            </a:r>
            <a:r>
              <a:rPr lang="es-SV" dirty="0"/>
              <a:t>/historial en la documentación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Fecha entrega: 20 de Marzo media noche.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254130055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Rojo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E347DCB393C534F9161A6E8941C3DD8" ma:contentTypeVersion="3" ma:contentTypeDescription="Crear nuevo documento." ma:contentTypeScope="" ma:versionID="61512e65a39c8587e39d98605cbaa544">
  <xsd:schema xmlns:xsd="http://www.w3.org/2001/XMLSchema" xmlns:xs="http://www.w3.org/2001/XMLSchema" xmlns:p="http://schemas.microsoft.com/office/2006/metadata/properties" xmlns:ns2="e117c542-0ee9-44bb-82f0-7089e9925f89" targetNamespace="http://schemas.microsoft.com/office/2006/metadata/properties" ma:root="true" ma:fieldsID="26971e7a51303c9b4ea934ce6bd8c03c" ns2:_="">
    <xsd:import namespace="e117c542-0ee9-44bb-82f0-7089e9925f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17c542-0ee9-44bb-82f0-7089e9925f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EC24281-C934-4507-8B6C-538532B7AA96}"/>
</file>

<file path=customXml/itemProps2.xml><?xml version="1.0" encoding="utf-8"?>
<ds:datastoreItem xmlns:ds="http://schemas.openxmlformats.org/officeDocument/2006/customXml" ds:itemID="{5C6BEAD7-F99A-4981-8D5D-8B3962F72994}"/>
</file>

<file path=customXml/itemProps3.xml><?xml version="1.0" encoding="utf-8"?>
<ds:datastoreItem xmlns:ds="http://schemas.openxmlformats.org/officeDocument/2006/customXml" ds:itemID="{934EC1BB-B9B3-4B70-9197-43407483ECDF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256</TotalTime>
  <Words>722</Words>
  <Application>Microsoft Office PowerPoint</Application>
  <PresentationFormat>Panorámica</PresentationFormat>
  <Paragraphs>99</Paragraphs>
  <Slides>16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Calibri</vt:lpstr>
      <vt:lpstr>Trebuchet MS</vt:lpstr>
      <vt:lpstr>Wingdings 3</vt:lpstr>
      <vt:lpstr>Faceta</vt:lpstr>
      <vt:lpstr>Especialización III: Lenguaje de Programación</vt:lpstr>
      <vt:lpstr>Construyendo tu Primera API con MVC y POO</vt:lpstr>
      <vt:lpstr>Estructura del proyecto C#</vt:lpstr>
      <vt:lpstr>Estructura Estándar en ASP.NET Core</vt:lpstr>
      <vt:lpstr>Carpeta Models - El Corazón de los Datos</vt:lpstr>
      <vt:lpstr>Controllers - Los Recepcionistas</vt:lpstr>
      <vt:lpstr>Services - La Lógica de Negocio</vt:lpstr>
      <vt:lpstr>DTOs - Data Transfer Objects</vt:lpstr>
      <vt:lpstr>DTOs - Data Transfer Objects</vt:lpstr>
      <vt:lpstr>DTOs - Data Transfer Objects</vt:lpstr>
      <vt:lpstr>Data Annotations en C# - Validación y Metadatos</vt:lpstr>
      <vt:lpstr>Data Annotations en C# - Validación y Metadatos</vt:lpstr>
      <vt:lpstr>¿Cómo viajan los datos?</vt:lpstr>
      <vt:lpstr>Ejercicio Evaluado</vt:lpstr>
      <vt:lpstr>Construir con IA</vt:lpstr>
      <vt:lpstr>Tarea en grupo 2 (Máximo 3 integrantes)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Especialización III: Lenguaje de Programación</dc:title>
  <dc:creator>Cesar Palacios</dc:creator>
  <cp:lastModifiedBy>Cesar Palacios</cp:lastModifiedBy>
  <cp:revision>1</cp:revision>
  <dcterms:created xsi:type="dcterms:W3CDTF">2026-03-16T19:55:22Z</dcterms:created>
  <dcterms:modified xsi:type="dcterms:W3CDTF">2026-03-17T00:12:21Z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0x010100EE347DCB393C534F9161A6E8941C3DD8</vt:lpwstr>
  </property>
</Properties>
</file>